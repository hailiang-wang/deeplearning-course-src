
<file path=[Content_Types].xml><?xml version="1.0" encoding="utf-8"?>
<Types xmlns="http://schemas.openxmlformats.org/package/2006/content-types">
  <Default Extension="tiff" ContentType="image/tiff"/>
  <Default Extension="png" ContentType="image/png"/>
  <Default Extension="gif" ContentType="image/gi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301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306" r:id="rId26"/>
    <p:sldId id="305" r:id="rId27"/>
    <p:sldId id="302" r:id="rId28"/>
    <p:sldId id="303" r:id="rId29"/>
    <p:sldId id="282" r:id="rId30"/>
    <p:sldId id="304" r:id="rId31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474746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C3C2611-4C71-4FC5-86AE-919BDF0F9419}" styleName="">
    <a:wholeTbl>
      <a:tcTxStyle>
        <a:fontRef idx="major">
          <a:srgbClr val="474746"/>
        </a:fontRef>
        <a:srgbClr val="474746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E5CE"/>
          </a:solidFill>
        </a:fill>
      </a:tcStyle>
    </a:wholeTbl>
    <a:band2H>
      <a:tcStyle>
        <a:tcBdr/>
        <a:fill>
          <a:solidFill>
            <a:srgbClr val="FEF2E8"/>
          </a:solidFill>
        </a:fill>
      </a:tcStyle>
    </a:band2H>
    <a:firstCol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741"/>
    <p:restoredTop sz="94653"/>
  </p:normalViewPr>
  <p:slideViewPr>
    <p:cSldViewPr snapToGrid="0" snapToObjects="1">
      <p:cViewPr varScale="1">
        <p:scale>
          <a:sx n="100" d="100"/>
          <a:sy n="100" d="100"/>
        </p:scale>
        <p:origin x="160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44" name="Shape 14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Arial"/>
      </a:defRPr>
    </a:lvl1pPr>
    <a:lvl2pPr indent="228600" defTabSz="457200" latinLnBrk="0">
      <a:defRPr sz="1200">
        <a:latin typeface="+mj-lt"/>
        <a:ea typeface="+mj-ea"/>
        <a:cs typeface="+mj-cs"/>
        <a:sym typeface="Arial"/>
      </a:defRPr>
    </a:lvl2pPr>
    <a:lvl3pPr indent="457200" defTabSz="457200" latinLnBrk="0">
      <a:defRPr sz="1200">
        <a:latin typeface="+mj-lt"/>
        <a:ea typeface="+mj-ea"/>
        <a:cs typeface="+mj-cs"/>
        <a:sym typeface="Arial"/>
      </a:defRPr>
    </a:lvl3pPr>
    <a:lvl4pPr indent="685800" defTabSz="457200" latinLnBrk="0">
      <a:defRPr sz="1200">
        <a:latin typeface="+mj-lt"/>
        <a:ea typeface="+mj-ea"/>
        <a:cs typeface="+mj-cs"/>
        <a:sym typeface="Arial"/>
      </a:defRPr>
    </a:lvl4pPr>
    <a:lvl5pPr indent="914400" defTabSz="457200" latinLnBrk="0">
      <a:defRPr sz="1200">
        <a:latin typeface="+mj-lt"/>
        <a:ea typeface="+mj-ea"/>
        <a:cs typeface="+mj-cs"/>
        <a:sym typeface="Arial"/>
      </a:defRPr>
    </a:lvl5pPr>
    <a:lvl6pPr indent="1143000" defTabSz="457200" latinLnBrk="0">
      <a:defRPr sz="1200">
        <a:latin typeface="+mj-lt"/>
        <a:ea typeface="+mj-ea"/>
        <a:cs typeface="+mj-cs"/>
        <a:sym typeface="Arial"/>
      </a:defRPr>
    </a:lvl6pPr>
    <a:lvl7pPr indent="1371600" defTabSz="457200" latinLnBrk="0">
      <a:defRPr sz="1200">
        <a:latin typeface="+mj-lt"/>
        <a:ea typeface="+mj-ea"/>
        <a:cs typeface="+mj-cs"/>
        <a:sym typeface="Arial"/>
      </a:defRPr>
    </a:lvl7pPr>
    <a:lvl8pPr indent="1600200" defTabSz="457200" latinLnBrk="0">
      <a:defRPr sz="1200">
        <a:latin typeface="+mj-lt"/>
        <a:ea typeface="+mj-ea"/>
        <a:cs typeface="+mj-cs"/>
        <a:sym typeface="Arial"/>
      </a:defRPr>
    </a:lvl8pPr>
    <a:lvl9pPr indent="1828800" defTabSz="457200" latinLnBrk="0">
      <a:defRPr sz="1200">
        <a:latin typeface="+mj-lt"/>
        <a:ea typeface="+mj-ea"/>
        <a:cs typeface="+mj-cs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/>
              <a:t>https://egallic.fr/Enseignement/ML/ECB/book/deep-learning.html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"/>
          <p:cNvSpPr>
            <a:spLocks noGrp="1"/>
          </p:cNvSpPr>
          <p:nvPr>
            <p:ph type="body" sz="quarter" idx="13"/>
          </p:nvPr>
        </p:nvSpPr>
        <p:spPr>
          <a:xfrm>
            <a:off x="487898" y="3863771"/>
            <a:ext cx="3683001" cy="369889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900"/>
              </a:spcBef>
              <a:buSzTx/>
              <a:buNone/>
              <a:defRPr sz="4000" b="1">
                <a:solidFill>
                  <a:schemeClr val="accent6"/>
                </a:solidFill>
              </a:defRPr>
            </a:pPr>
          </a:p>
        </p:txBody>
      </p:sp>
      <p:sp>
        <p:nvSpPr>
          <p:cNvPr id="13" name="Rectangle"/>
          <p:cNvSpPr>
            <a:spLocks noGrp="1"/>
          </p:cNvSpPr>
          <p:nvPr>
            <p:ph type="body" sz="quarter" idx="14"/>
          </p:nvPr>
        </p:nvSpPr>
        <p:spPr>
          <a:xfrm>
            <a:off x="487899" y="1250570"/>
            <a:ext cx="7324988" cy="744538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900"/>
              </a:spcBef>
              <a:buSzTx/>
              <a:buNone/>
              <a:defRPr sz="4000" b="1">
                <a:solidFill>
                  <a:srgbClr val="4D4D4C"/>
                </a:solidFill>
              </a:defRPr>
            </a:pPr>
          </a:p>
        </p:txBody>
      </p:sp>
      <p:sp>
        <p:nvSpPr>
          <p:cNvPr id="14" name="Rectangle"/>
          <p:cNvSpPr>
            <a:spLocks noGrp="1"/>
          </p:cNvSpPr>
          <p:nvPr>
            <p:ph type="body" sz="quarter" idx="15"/>
          </p:nvPr>
        </p:nvSpPr>
        <p:spPr>
          <a:xfrm>
            <a:off x="487898" y="2000917"/>
            <a:ext cx="6041584" cy="48785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>
                <a:solidFill>
                  <a:srgbClr val="4D4D4C"/>
                </a:solidFill>
              </a:defRPr>
            </a:pPr>
          </a:p>
        </p:txBody>
      </p:sp>
      <p:pic>
        <p:nvPicPr>
          <p:cNvPr id="15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Code Snipp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336789" y="114935"/>
            <a:ext cx="8205304" cy="54574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336613" y="1010407"/>
            <a:ext cx="8207742" cy="364192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"/>
              </a:spcBef>
              <a:buSzTx/>
              <a:buNone/>
              <a:defRPr sz="1100"/>
            </a:lvl1pPr>
            <a:lvl2pPr marL="0" indent="457200">
              <a:spcBef>
                <a:spcPts val="200"/>
              </a:spcBef>
              <a:buSzTx/>
              <a:buNone/>
              <a:defRPr sz="1100"/>
            </a:lvl2pPr>
            <a:lvl3pPr marL="0" indent="914400">
              <a:spcBef>
                <a:spcPts val="200"/>
              </a:spcBef>
              <a:buSzTx/>
              <a:buNone/>
              <a:defRPr sz="1100"/>
            </a:lvl3pPr>
            <a:lvl4pPr marL="0" indent="1371600">
              <a:spcBef>
                <a:spcPts val="200"/>
              </a:spcBef>
              <a:buSzTx/>
              <a:buNone/>
              <a:defRPr sz="1100"/>
            </a:lvl4pPr>
            <a:lvl5pPr marL="0" indent="1828800">
              <a:spcBef>
                <a:spcPts val="200"/>
              </a:spcBef>
              <a:buSzTx/>
              <a:buNone/>
              <a:defRPr sz="11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34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396393" y="1969202"/>
            <a:ext cx="7772401" cy="930106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t>Title Text</a:t>
            </a:r>
          </a:p>
        </p:txBody>
      </p:sp>
      <p:pic>
        <p:nvPicPr>
          <p:cNvPr id="43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336789" y="114935"/>
            <a:ext cx="8205304" cy="54574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333575" y="1012506"/>
            <a:ext cx="4038601" cy="3472074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  <a:defRPr sz="2200"/>
            </a:lvl1pPr>
            <a:lvl2pPr marL="771525" indent="-314325">
              <a:defRPr sz="2200"/>
            </a:lvl2pPr>
            <a:lvl3pPr marL="1228725" indent="-314325">
              <a:defRPr sz="2200"/>
            </a:lvl3pPr>
            <a:lvl4pPr marL="1685925" indent="-314325">
              <a:defRPr sz="2200"/>
            </a:lvl4pPr>
            <a:lvl5pPr marL="2143125" indent="-314325">
              <a:defRPr sz="2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53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336789" y="114935"/>
            <a:ext cx="8205304" cy="5457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C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6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37517" y="1011542"/>
            <a:ext cx="2442635" cy="339447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400"/>
              </a:spcBef>
              <a:buSzTx/>
              <a:buNone/>
              <a:defRPr sz="2000">
                <a:solidFill>
                  <a:srgbClr val="4D4D4C"/>
                </a:solidFill>
              </a:defRPr>
            </a:lvl1pPr>
            <a:lvl2pPr marL="774700" indent="-317500">
              <a:spcBef>
                <a:spcPts val="400"/>
              </a:spcBef>
              <a:defRPr sz="2000">
                <a:solidFill>
                  <a:srgbClr val="4D4D4C"/>
                </a:solidFill>
              </a:defRPr>
            </a:lvl2pPr>
            <a:lvl3pPr marL="1200150" indent="-285750">
              <a:spcBef>
                <a:spcPts val="400"/>
              </a:spcBef>
              <a:defRPr sz="2000">
                <a:solidFill>
                  <a:srgbClr val="4D4D4C"/>
                </a:solidFill>
              </a:defRPr>
            </a:lvl3pPr>
            <a:lvl4pPr marL="0" indent="1371600">
              <a:spcBef>
                <a:spcPts val="400"/>
              </a:spcBef>
              <a:buSzTx/>
              <a:buNone/>
              <a:defRPr sz="2000">
                <a:solidFill>
                  <a:srgbClr val="4D4D4C"/>
                </a:solidFill>
              </a:defRPr>
            </a:lvl4pPr>
            <a:lvl5pPr marL="2114550" indent="-285750">
              <a:spcBef>
                <a:spcPts val="400"/>
              </a:spcBef>
              <a:defRPr sz="2000">
                <a:solidFill>
                  <a:srgbClr val="4D4D4C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63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Four Content -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336789" y="114935"/>
            <a:ext cx="8205304" cy="545194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37742" y="3127083"/>
            <a:ext cx="1797051" cy="340941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1pPr>
            <a:lvl2pPr marL="0" indent="45720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2pPr>
            <a:lvl3pPr marL="0" indent="91440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3pPr>
            <a:lvl4pPr marL="0" indent="137160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4pPr>
            <a:lvl5pPr marL="0" indent="182880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3" name="Rectangle"/>
          <p:cNvSpPr>
            <a:spLocks noGrp="1"/>
          </p:cNvSpPr>
          <p:nvPr>
            <p:ph type="body" sz="quarter" idx="13"/>
          </p:nvPr>
        </p:nvSpPr>
        <p:spPr>
          <a:xfrm>
            <a:off x="2496747" y="3127083"/>
            <a:ext cx="1797051" cy="340941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300"/>
              </a:spcBef>
              <a:buSzTx/>
              <a:buNone/>
              <a:defRPr sz="1400" b="1">
                <a:solidFill>
                  <a:srgbClr val="4D4D4C"/>
                </a:solidFill>
              </a:defRPr>
            </a:pPr>
          </a:p>
        </p:txBody>
      </p:sp>
      <p:sp>
        <p:nvSpPr>
          <p:cNvPr id="74" name="Rectangle"/>
          <p:cNvSpPr>
            <a:spLocks noGrp="1"/>
          </p:cNvSpPr>
          <p:nvPr>
            <p:ph type="body" sz="quarter" idx="14"/>
          </p:nvPr>
        </p:nvSpPr>
        <p:spPr>
          <a:xfrm>
            <a:off x="4634584" y="3127083"/>
            <a:ext cx="1797051" cy="340941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300"/>
              </a:spcBef>
              <a:buSzTx/>
              <a:buNone/>
              <a:defRPr sz="1400" b="1">
                <a:solidFill>
                  <a:srgbClr val="4D4D4C"/>
                </a:solidFill>
              </a:defRPr>
            </a:pPr>
          </a:p>
        </p:txBody>
      </p:sp>
      <p:sp>
        <p:nvSpPr>
          <p:cNvPr id="75" name="Rectangle"/>
          <p:cNvSpPr>
            <a:spLocks noGrp="1"/>
          </p:cNvSpPr>
          <p:nvPr>
            <p:ph type="body" sz="quarter" idx="15"/>
          </p:nvPr>
        </p:nvSpPr>
        <p:spPr>
          <a:xfrm>
            <a:off x="6990344" y="3127083"/>
            <a:ext cx="1797051" cy="340941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300"/>
              </a:spcBef>
              <a:buSzTx/>
              <a:buNone/>
              <a:defRPr sz="1400" b="1">
                <a:solidFill>
                  <a:srgbClr val="4D4D4C"/>
                </a:solidFill>
              </a:defRPr>
            </a:pPr>
          </a:p>
        </p:txBody>
      </p:sp>
      <p:sp>
        <p:nvSpPr>
          <p:cNvPr id="76" name="Image"/>
          <p:cNvSpPr>
            <a:spLocks noGrp="1"/>
          </p:cNvSpPr>
          <p:nvPr>
            <p:ph type="pic" sz="quarter" idx="16"/>
          </p:nvPr>
        </p:nvSpPr>
        <p:spPr>
          <a:xfrm>
            <a:off x="337742" y="1604354"/>
            <a:ext cx="1797051" cy="1344613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77" name="Image"/>
          <p:cNvSpPr>
            <a:spLocks noGrp="1"/>
          </p:cNvSpPr>
          <p:nvPr>
            <p:ph type="pic" sz="quarter" idx="17"/>
          </p:nvPr>
        </p:nvSpPr>
        <p:spPr>
          <a:xfrm>
            <a:off x="2496747" y="1604354"/>
            <a:ext cx="1797051" cy="1344613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78" name="Image"/>
          <p:cNvSpPr>
            <a:spLocks noGrp="1"/>
          </p:cNvSpPr>
          <p:nvPr>
            <p:ph type="pic" sz="quarter" idx="18"/>
          </p:nvPr>
        </p:nvSpPr>
        <p:spPr>
          <a:xfrm>
            <a:off x="4634584" y="1604354"/>
            <a:ext cx="1797051" cy="1344613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79" name="Image"/>
          <p:cNvSpPr>
            <a:spLocks noGrp="1"/>
          </p:cNvSpPr>
          <p:nvPr>
            <p:ph type="pic" sz="quarter" idx="19"/>
          </p:nvPr>
        </p:nvSpPr>
        <p:spPr>
          <a:xfrm>
            <a:off x="6990344" y="1604354"/>
            <a:ext cx="1797051" cy="1344613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pic>
        <p:nvPicPr>
          <p:cNvPr id="80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Six Content -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336789" y="114935"/>
            <a:ext cx="8205304" cy="545194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89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39933" y="2151896"/>
            <a:ext cx="1924051" cy="340941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1pPr>
            <a:lvl2pPr marL="0" indent="45720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2pPr>
            <a:lvl3pPr marL="0" indent="91440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3pPr>
            <a:lvl4pPr marL="0" indent="137160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4pPr>
            <a:lvl5pPr marL="0" indent="1828800" algn="ctr">
              <a:spcBef>
                <a:spcPts val="300"/>
              </a:spcBef>
              <a:buSzTx/>
              <a:buNone/>
              <a:defRPr sz="1400">
                <a:solidFill>
                  <a:srgbClr val="4D4D4C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0" name="Rectangle"/>
          <p:cNvSpPr>
            <a:spLocks noGrp="1"/>
          </p:cNvSpPr>
          <p:nvPr>
            <p:ph type="body" sz="quarter" idx="13"/>
          </p:nvPr>
        </p:nvSpPr>
        <p:spPr>
          <a:xfrm>
            <a:off x="3479308" y="2151896"/>
            <a:ext cx="1924051" cy="340941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300"/>
              </a:spcBef>
              <a:buSzTx/>
              <a:buNone/>
              <a:defRPr sz="1400" b="1">
                <a:solidFill>
                  <a:srgbClr val="4D4D4C"/>
                </a:solidFill>
              </a:defRPr>
            </a:pPr>
          </a:p>
        </p:txBody>
      </p:sp>
      <p:sp>
        <p:nvSpPr>
          <p:cNvPr id="91" name="Rectangle"/>
          <p:cNvSpPr>
            <a:spLocks noGrp="1"/>
          </p:cNvSpPr>
          <p:nvPr>
            <p:ph type="body" sz="quarter" idx="14"/>
          </p:nvPr>
        </p:nvSpPr>
        <p:spPr>
          <a:xfrm>
            <a:off x="6624973" y="2151896"/>
            <a:ext cx="1924051" cy="340941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300"/>
              </a:spcBef>
              <a:buSzTx/>
              <a:buNone/>
              <a:defRPr sz="1400" b="1">
                <a:solidFill>
                  <a:srgbClr val="4D4D4C"/>
                </a:solidFill>
              </a:defRPr>
            </a:pPr>
          </a:p>
        </p:txBody>
      </p:sp>
      <p:sp>
        <p:nvSpPr>
          <p:cNvPr id="92" name="Rectangle"/>
          <p:cNvSpPr>
            <a:spLocks noGrp="1"/>
          </p:cNvSpPr>
          <p:nvPr>
            <p:ph type="body" sz="quarter" idx="15"/>
          </p:nvPr>
        </p:nvSpPr>
        <p:spPr>
          <a:xfrm>
            <a:off x="339933" y="3963639"/>
            <a:ext cx="1924051" cy="340941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300"/>
              </a:spcBef>
              <a:buSzTx/>
              <a:buNone/>
              <a:defRPr sz="1400" b="1">
                <a:solidFill>
                  <a:srgbClr val="4D4D4C"/>
                </a:solidFill>
              </a:defRPr>
            </a:pPr>
          </a:p>
        </p:txBody>
      </p:sp>
      <p:sp>
        <p:nvSpPr>
          <p:cNvPr id="93" name="Rectangle"/>
          <p:cNvSpPr>
            <a:spLocks noGrp="1"/>
          </p:cNvSpPr>
          <p:nvPr>
            <p:ph type="body" sz="quarter" idx="16"/>
          </p:nvPr>
        </p:nvSpPr>
        <p:spPr>
          <a:xfrm>
            <a:off x="3479308" y="3963639"/>
            <a:ext cx="1924051" cy="340941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300"/>
              </a:spcBef>
              <a:buSzTx/>
              <a:buNone/>
              <a:defRPr sz="1400" b="1">
                <a:solidFill>
                  <a:srgbClr val="4D4D4C"/>
                </a:solidFill>
              </a:defRPr>
            </a:pPr>
          </a:p>
        </p:txBody>
      </p:sp>
      <p:sp>
        <p:nvSpPr>
          <p:cNvPr id="94" name="Rectangle"/>
          <p:cNvSpPr>
            <a:spLocks noGrp="1"/>
          </p:cNvSpPr>
          <p:nvPr>
            <p:ph type="body" sz="quarter" idx="17"/>
          </p:nvPr>
        </p:nvSpPr>
        <p:spPr>
          <a:xfrm>
            <a:off x="6624973" y="3963639"/>
            <a:ext cx="1924051" cy="340941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300"/>
              </a:spcBef>
              <a:buSzTx/>
              <a:buNone/>
              <a:defRPr sz="1400" b="1">
                <a:solidFill>
                  <a:srgbClr val="4D4D4C"/>
                </a:solidFill>
              </a:defRPr>
            </a:pPr>
          </a:p>
        </p:txBody>
      </p:sp>
      <p:sp>
        <p:nvSpPr>
          <p:cNvPr id="95" name="Image"/>
          <p:cNvSpPr>
            <a:spLocks noGrp="1"/>
          </p:cNvSpPr>
          <p:nvPr>
            <p:ph type="pic" sz="quarter" idx="18"/>
          </p:nvPr>
        </p:nvSpPr>
        <p:spPr>
          <a:xfrm>
            <a:off x="339938" y="928297"/>
            <a:ext cx="1924051" cy="1100669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96" name="Image"/>
          <p:cNvSpPr>
            <a:spLocks noGrp="1"/>
          </p:cNvSpPr>
          <p:nvPr>
            <p:ph type="pic" sz="quarter" idx="19"/>
          </p:nvPr>
        </p:nvSpPr>
        <p:spPr>
          <a:xfrm>
            <a:off x="3479308" y="928297"/>
            <a:ext cx="1924051" cy="1100669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97" name="Image"/>
          <p:cNvSpPr>
            <a:spLocks noGrp="1"/>
          </p:cNvSpPr>
          <p:nvPr>
            <p:ph type="pic" sz="quarter" idx="20"/>
          </p:nvPr>
        </p:nvSpPr>
        <p:spPr>
          <a:xfrm>
            <a:off x="6624973" y="928297"/>
            <a:ext cx="1924051" cy="1100669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98" name="Image"/>
          <p:cNvSpPr>
            <a:spLocks noGrp="1"/>
          </p:cNvSpPr>
          <p:nvPr>
            <p:ph type="pic" sz="quarter" idx="21"/>
          </p:nvPr>
        </p:nvSpPr>
        <p:spPr>
          <a:xfrm>
            <a:off x="339938" y="2782372"/>
            <a:ext cx="1924051" cy="1100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99" name="Image"/>
          <p:cNvSpPr>
            <a:spLocks noGrp="1"/>
          </p:cNvSpPr>
          <p:nvPr>
            <p:ph type="pic" sz="quarter" idx="22"/>
          </p:nvPr>
        </p:nvSpPr>
        <p:spPr>
          <a:xfrm>
            <a:off x="3479308" y="2782372"/>
            <a:ext cx="1924051" cy="1100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100" name="Image"/>
          <p:cNvSpPr>
            <a:spLocks noGrp="1"/>
          </p:cNvSpPr>
          <p:nvPr>
            <p:ph type="pic" sz="quarter" idx="23"/>
          </p:nvPr>
        </p:nvSpPr>
        <p:spPr>
          <a:xfrm>
            <a:off x="6624973" y="2782372"/>
            <a:ext cx="1924051" cy="1100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pic>
        <p:nvPicPr>
          <p:cNvPr id="101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336789" y="114935"/>
            <a:ext cx="8205304" cy="54519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C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110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911" y="4699139"/>
            <a:ext cx="883651" cy="3311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7" name="Rectangle"/>
          <p:cNvSpPr/>
          <p:nvPr/>
        </p:nvSpPr>
        <p:spPr>
          <a:xfrm>
            <a:off x="8053950" y="4639759"/>
            <a:ext cx="1018534" cy="44008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spcBef>
                <a:spcPts val="900"/>
              </a:spcBef>
              <a:defRPr sz="4000" b="1">
                <a:solidFill>
                  <a:srgbClr val="FFFFFF"/>
                </a:solidFill>
              </a:defRPr>
            </a:pP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3074459" y="1674428"/>
            <a:ext cx="6069542" cy="1250669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rgbClr val="4D4D4C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136" name="Image" descr="Image"/>
          <p:cNvPicPr>
            <a:picLocks noChangeAspect="1"/>
          </p:cNvPicPr>
          <p:nvPr/>
        </p:nvPicPr>
        <p:blipFill>
          <a:blip r:embed="rId2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tiff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321761" y="114935"/>
            <a:ext cx="8205305" cy="54574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340592" y="1009331"/>
            <a:ext cx="8205304" cy="355392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>
            <a:lvl2pPr marL="800100" indent="-342900"/>
            <a:lvl3pPr marL="1219200" indent="-304800"/>
            <a:lvl4pPr marL="1714500" indent="-342900">
              <a:buChar char="–"/>
            </a:lvl4pPr>
            <a:lvl5pPr marL="2171700" indent="-342900">
              <a:buChar char="»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4" name="Image" descr="Image"/>
          <p:cNvPicPr>
            <a:picLocks noChangeAspect="1"/>
          </p:cNvPicPr>
          <p:nvPr/>
        </p:nvPicPr>
        <p:blipFill>
          <a:blip r:embed="rId13"/>
          <a:srcRect t="32048" b="32048"/>
          <a:stretch>
            <a:fillRect/>
          </a:stretch>
        </p:blipFill>
        <p:spPr>
          <a:xfrm>
            <a:off x="7828082" y="4543652"/>
            <a:ext cx="1030169" cy="36985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240665" marR="0" indent="-240665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621665" marR="0" indent="-240665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1002665" marR="0" indent="-240665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1383665" marR="0" indent="-240665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1764665" marR="0" indent="-240665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2145665" marR="0" indent="-240665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2526665" marR="0" indent="-240665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2907665" marR="0" indent="-240665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3288665" marR="0" indent="-240665" algn="l" defTabSz="4572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courses.d2l.ai/berkeley-stat-157/units/capacity.html" TargetMode="External"/><Relationship Id="rId2" Type="http://schemas.openxmlformats.org/officeDocument/2006/relationships/hyperlink" Target="https://www.d2l.ai/" TargetMode="External"/><Relationship Id="rId1" Type="http://schemas.openxmlformats.org/officeDocument/2006/relationships/hyperlink" Target="https://zh.d2l.ai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tif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tif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tiff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tiff"/><Relationship Id="rId1" Type="http://schemas.openxmlformats.org/officeDocument/2006/relationships/image" Target="../media/image12.tiff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tiff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tiff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2.tif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GI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1" Type="http://schemas.openxmlformats.org/officeDocument/2006/relationships/image" Target="../media/image38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Introduction to Deep Learning"/>
          <p:cNvSpPr>
            <a:spLocks noGrp="1"/>
          </p:cNvSpPr>
          <p:nvPr>
            <p:ph type="body" idx="14"/>
          </p:nvPr>
        </p:nvSpPr>
        <p:spPr>
          <a:prstGeom prst="rect">
            <a:avLst/>
          </a:prstGeom>
        </p:spPr>
        <p:txBody>
          <a:bodyPr/>
          <a:lstStyle>
            <a:lvl1pPr marL="0" indent="0" defTabSz="452755">
              <a:spcBef>
                <a:spcPts val="900"/>
              </a:spcBef>
              <a:buSzTx/>
              <a:buNone/>
              <a:defRPr sz="3960" b="1">
                <a:solidFill>
                  <a:srgbClr val="4D4D4C"/>
                </a:solidFill>
              </a:defRPr>
            </a:lvl1pPr>
          </a:lstStyle>
          <a:p>
            <a:r>
              <a:rPr lang="ja-JP" altLang="en-US"/>
              <a:t>动手学深度学习</a:t>
            </a:r>
            <a:endParaRPr dirty="0"/>
          </a:p>
        </p:txBody>
      </p:sp>
      <p:sp>
        <p:nvSpPr>
          <p:cNvPr id="149" name="3. Gradient and Auto Differentiation"/>
          <p:cNvSpPr>
            <a:spLocks noGrp="1"/>
          </p:cNvSpPr>
          <p:nvPr>
            <p:ph type="body" idx="15"/>
          </p:nvPr>
        </p:nvSpPr>
        <p:spPr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0" indent="0">
              <a:buSzTx/>
              <a:buNone/>
              <a:defRPr b="1">
                <a:solidFill>
                  <a:srgbClr val="4D4D4C"/>
                </a:solidFill>
              </a:defRPr>
            </a:lvl1pPr>
          </a:lstStyle>
          <a:p>
            <a:r>
              <a:rPr lang="en-US" altLang="ja-JP" dirty="0"/>
              <a:t>7. </a:t>
            </a:r>
            <a:r>
              <a:rPr lang="ja-JP" altLang="en-US"/>
              <a:t>模型选择，欠拟合与过拟合</a:t>
            </a:r>
            <a:r>
              <a:rPr lang="zh-CN" altLang="en-US" dirty="0"/>
              <a:t>，</a:t>
            </a:r>
            <a:r>
              <a:rPr lang="ja-JP" altLang="en-US"/>
              <a:t>权重衰减</a:t>
            </a:r>
            <a:r>
              <a:rPr lang="zh-CN" altLang="en-US" dirty="0"/>
              <a:t> </a:t>
            </a:r>
            <a:r>
              <a:rPr lang="ja-JP" altLang="en-US"/>
              <a:t>和</a:t>
            </a:r>
            <a:r>
              <a:rPr lang="zh-CN" altLang="en-US" dirty="0"/>
              <a:t> </a:t>
            </a:r>
            <a:r>
              <a:rPr lang="ja-JP" altLang="en-US"/>
              <a:t>丢弃法</a:t>
            </a:r>
            <a:endParaRPr lang="ja-JP" altLang="en-US"/>
          </a:p>
        </p:txBody>
      </p:sp>
      <p:sp>
        <p:nvSpPr>
          <p:cNvPr id="8" name="Rectangle"/>
          <p:cNvSpPr>
            <a:spLocks noGrp="1"/>
          </p:cNvSpPr>
          <p:nvPr>
            <p:ph type="body" idx="13"/>
          </p:nvPr>
        </p:nvSpPr>
        <p:spPr>
          <a:xfrm>
            <a:off x="487898" y="3430138"/>
            <a:ext cx="7128960" cy="129071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spcBef>
                <a:spcPts val="900"/>
              </a:spcBef>
              <a:buSzTx/>
              <a:buNone/>
              <a:defRPr sz="4000" b="1">
                <a:solidFill>
                  <a:schemeClr val="accent6"/>
                </a:solidFill>
              </a:defRPr>
            </a:pPr>
            <a:r>
              <a:rPr lang="ja-JP" altLang="en-US" sz="1600"/>
              <a:t>中文教材</a:t>
            </a:r>
            <a:r>
              <a:rPr lang="zh-CN" altLang="en-US" sz="1600" dirty="0"/>
              <a:t>：</a:t>
            </a:r>
            <a:r>
              <a:rPr lang="en-US" altLang="zh-CN" sz="1600" dirty="0">
                <a:hlinkClick r:id="rId1"/>
              </a:rPr>
              <a:t>z</a:t>
            </a:r>
            <a:r>
              <a:rPr lang="en-US" sz="1600" dirty="0">
                <a:hlinkClick r:id="rId1"/>
              </a:rPr>
              <a:t>h</a:t>
            </a:r>
            <a:r>
              <a:rPr lang="en-US" altLang="zh-CN" sz="1600" dirty="0">
                <a:hlinkClick r:id="rId1"/>
              </a:rPr>
              <a:t>.d2l.ai</a:t>
            </a:r>
            <a:r>
              <a:rPr lang="zh-CN" altLang="en-US" sz="1600" dirty="0"/>
              <a:t> </a:t>
            </a:r>
            <a:endParaRPr lang="en-US" altLang="zh-CN" sz="1600" dirty="0"/>
          </a:p>
          <a:p>
            <a:pPr marL="0" indent="0">
              <a:spcBef>
                <a:spcPts val="900"/>
              </a:spcBef>
              <a:buSzTx/>
              <a:buNone/>
              <a:defRPr sz="4000" b="1">
                <a:solidFill>
                  <a:schemeClr val="accent6"/>
                </a:solidFill>
              </a:defRPr>
            </a:pPr>
            <a:r>
              <a:rPr lang="ja-JP" altLang="en-US" sz="1600"/>
              <a:t>英文教材</a:t>
            </a:r>
            <a:r>
              <a:rPr lang="zh-CN" altLang="en-US" sz="1600" dirty="0"/>
              <a:t>：</a:t>
            </a:r>
            <a:r>
              <a:rPr lang="en-US" altLang="zh-CN" sz="1600" dirty="0">
                <a:hlinkClick r:id="rId2"/>
              </a:rPr>
              <a:t>www.d2l.ai</a:t>
            </a:r>
            <a:endParaRPr lang="en-US" altLang="zh-CN" sz="1600" dirty="0"/>
          </a:p>
          <a:p>
            <a:pPr marL="0" indent="0">
              <a:spcBef>
                <a:spcPts val="900"/>
              </a:spcBef>
              <a:buSzTx/>
              <a:buNone/>
              <a:defRPr sz="4000" b="1">
                <a:solidFill>
                  <a:schemeClr val="accent6"/>
                </a:solidFill>
              </a:defRPr>
            </a:pPr>
            <a:r>
              <a:rPr lang="ja-JP" altLang="en-US" sz="1600"/>
              <a:t>教学视频</a:t>
            </a:r>
            <a:r>
              <a:rPr lang="zh-CN" altLang="en-US" sz="1600" dirty="0"/>
              <a:t>：</a:t>
            </a:r>
            <a:r>
              <a:rPr lang="en-US" sz="1600" b="1" dirty="0">
                <a:hlinkClick r:id="rId3"/>
              </a:rPr>
              <a:t>https://courses.d2l.ai/berkeley-stat-157/units/capacity.html</a:t>
            </a:r>
            <a:endParaRPr lang="en-US" altLang="zh-CN" sz="1600" dirty="0"/>
          </a:p>
          <a:p>
            <a:pPr marL="0" indent="0">
              <a:spcBef>
                <a:spcPts val="900"/>
              </a:spcBef>
              <a:buSzTx/>
              <a:buNone/>
              <a:defRPr sz="4000" b="1">
                <a:solidFill>
                  <a:schemeClr val="accent6"/>
                </a:solidFill>
              </a:defRPr>
            </a:pPr>
            <a:endParaRPr sz="160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Outl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概要</a:t>
            </a:r>
            <a:endParaRPr dirty="0"/>
          </a:p>
        </p:txBody>
      </p:sp>
      <p:sp>
        <p:nvSpPr>
          <p:cNvPr id="192" name="Single Layer Perceptr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defRPr b="1"/>
            </a:pPr>
            <a:r>
              <a:rPr lang="ja-JP" altLang="en-US"/>
              <a:t>模型选择</a:t>
            </a:r>
            <a:endParaRPr lang="en-US" altLang="ja-JP" dirty="0"/>
          </a:p>
          <a:p>
            <a:pPr lvl="1">
              <a:defRPr b="1"/>
            </a:pPr>
            <a:r>
              <a:rPr lang="ja-JP" altLang="en-US" b="1"/>
              <a:t>训练误差和泛化误差</a:t>
            </a:r>
            <a:endParaRPr lang="en-US" altLang="ja-JP" b="1" dirty="0"/>
          </a:p>
          <a:p>
            <a:pPr lvl="1">
              <a:defRPr b="1"/>
            </a:pPr>
            <a:r>
              <a:rPr lang="en-US" altLang="zh-CN" b="1" dirty="0"/>
              <a:t>K</a:t>
            </a:r>
            <a:r>
              <a:rPr lang="zh-CN" altLang="en-US" b="1" dirty="0"/>
              <a:t> </a:t>
            </a:r>
            <a:r>
              <a:rPr lang="ja-JP" altLang="en-US" b="1"/>
              <a:t>折交叉验证</a:t>
            </a:r>
            <a:endParaRPr lang="en-US" altLang="ja-JP" b="1" dirty="0"/>
          </a:p>
          <a:p>
            <a:pPr>
              <a:defRPr b="1"/>
            </a:pPr>
            <a:r>
              <a:rPr lang="ja-JP" altLang="en-US"/>
              <a:t>欠拟合与过拟合</a:t>
            </a:r>
            <a:endParaRPr lang="en-US" altLang="ja-JP" dirty="0"/>
          </a:p>
          <a:p>
            <a:pPr lvl="1">
              <a:defRPr b="1"/>
            </a:pPr>
            <a:r>
              <a:rPr lang="ja-JP" altLang="en-US" b="1"/>
              <a:t>模型复杂度</a:t>
            </a:r>
            <a:endParaRPr lang="en-US" altLang="ja-JP" b="1" dirty="0"/>
          </a:p>
          <a:p>
            <a:pPr lvl="1">
              <a:defRPr b="1"/>
            </a:pPr>
            <a:r>
              <a:rPr lang="en-US" altLang="ja-JP" b="1" dirty="0"/>
              <a:t>VC</a:t>
            </a:r>
            <a:r>
              <a:rPr lang="zh-CN" altLang="en-US" b="1" dirty="0"/>
              <a:t> </a:t>
            </a:r>
            <a:r>
              <a:rPr lang="ja-JP" altLang="en-US" b="1"/>
              <a:t>维度</a:t>
            </a:r>
            <a:endParaRPr lang="en-US" altLang="ja-JP" b="1" dirty="0"/>
          </a:p>
          <a:p>
            <a:pPr>
              <a:defRPr b="1"/>
            </a:pPr>
            <a:r>
              <a:rPr lang="ja-JP" altLang="en-US"/>
              <a:t>权重衰减</a:t>
            </a:r>
            <a:endParaRPr lang="en-US" altLang="ja-JP" dirty="0"/>
          </a:p>
          <a:p>
            <a:pPr>
              <a:defRPr b="1"/>
            </a:pPr>
            <a:r>
              <a:rPr lang="ja-JP" altLang="en-US"/>
              <a:t>丢弃法</a:t>
            </a:r>
            <a:endParaRPr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Model Evaluation"/>
          <p:cNvSpPr txBox="1">
            <a:spLocks noGrp="1"/>
          </p:cNvSpPr>
          <p:nvPr>
            <p:ph type="title"/>
          </p:nvPr>
        </p:nvSpPr>
        <p:spPr>
          <a:xfrm>
            <a:off x="386234" y="1754212"/>
            <a:ext cx="3431678" cy="1635075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模型选择</a:t>
            </a:r>
            <a:endParaRPr dirty="0"/>
          </a:p>
        </p:txBody>
      </p:sp>
      <p:pic>
        <p:nvPicPr>
          <p:cNvPr id="167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3208" y="1754212"/>
            <a:ext cx="4343166" cy="163507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raining Error and Generalization Erro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训练误差和泛化误差</a:t>
            </a:r>
            <a:endParaRPr dirty="0"/>
          </a:p>
        </p:txBody>
      </p:sp>
      <p:sp>
        <p:nvSpPr>
          <p:cNvPr id="170" name="Training error: model error on the training data…"/>
          <p:cNvSpPr txBox="1">
            <a:spLocks noGrp="1"/>
          </p:cNvSpPr>
          <p:nvPr>
            <p:ph type="body" idx="1"/>
          </p:nvPr>
        </p:nvSpPr>
        <p:spPr>
          <a:xfrm>
            <a:off x="340592" y="1009331"/>
            <a:ext cx="7259421" cy="355392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ja-JP" altLang="en-US" sz="2000"/>
              <a:t>训练误差</a:t>
            </a:r>
            <a:r>
              <a:rPr lang="zh-CN" altLang="en-US" sz="2000" dirty="0"/>
              <a:t>：</a:t>
            </a:r>
            <a:r>
              <a:rPr lang="ja-JP" altLang="en-US" sz="2000"/>
              <a:t>出自于训练数据</a:t>
            </a:r>
            <a:endParaRPr sz="2000" dirty="0"/>
          </a:p>
          <a:p>
            <a:r>
              <a:rPr lang="ja-JP" altLang="en-US" sz="2000"/>
              <a:t>泛化误差</a:t>
            </a:r>
            <a:r>
              <a:rPr lang="zh-CN" altLang="en-US" sz="2000" dirty="0"/>
              <a:t>：</a:t>
            </a:r>
            <a:r>
              <a:rPr lang="ja-JP" altLang="en-US" sz="2000"/>
              <a:t>出自于新数据</a:t>
            </a:r>
            <a:endParaRPr lang="en-US" altLang="ja-JP" sz="2000" dirty="0"/>
          </a:p>
          <a:p>
            <a:r>
              <a:rPr lang="ja-JP" altLang="en-US" sz="2000"/>
              <a:t>示例：使用历年考试真题准备将来的考试</a:t>
            </a:r>
            <a:endParaRPr lang="ja-JP" altLang="en-US" sz="2000"/>
          </a:p>
          <a:p>
            <a:pPr lvl="1"/>
            <a:r>
              <a:rPr lang="ja-JP" altLang="en-US" sz="2000"/>
              <a:t>在历年考试真题取得好成绩（训练误差）并不能保证未来考试成绩好（泛化误差）</a:t>
            </a:r>
            <a:endParaRPr lang="ja-JP" altLang="en-US" sz="2000"/>
          </a:p>
          <a:p>
            <a:pPr lvl="1"/>
            <a:r>
              <a:rPr lang="ja-JP" altLang="en-US" sz="2000"/>
              <a:t>学生</a:t>
            </a:r>
            <a:r>
              <a:rPr lang="zh-CN" altLang="en-US" sz="2000" dirty="0"/>
              <a:t> </a:t>
            </a:r>
            <a:r>
              <a:rPr lang="en-US" sz="2000" dirty="0"/>
              <a:t>A</a:t>
            </a:r>
            <a:r>
              <a:rPr lang="zh-CN" altLang="en-US" sz="2000" dirty="0"/>
              <a:t> </a:t>
            </a:r>
            <a:r>
              <a:rPr lang="ja-JP" altLang="en-US" sz="2000"/>
              <a:t>通过死记硬背学习在历年考试真题取得</a:t>
            </a:r>
            <a:r>
              <a:rPr lang="en-US" altLang="ja-JP" sz="2000" dirty="0"/>
              <a:t>0</a:t>
            </a:r>
            <a:r>
              <a:rPr lang="ja-JP" altLang="en-US" sz="2000"/>
              <a:t>错误</a:t>
            </a:r>
            <a:endParaRPr lang="ja-JP" altLang="en-US" sz="2000"/>
          </a:p>
          <a:p>
            <a:pPr lvl="1"/>
            <a:r>
              <a:rPr lang="ja-JP" altLang="en-US" sz="2000"/>
              <a:t>学生</a:t>
            </a:r>
            <a:r>
              <a:rPr lang="zh-CN" altLang="en-US" sz="2000" dirty="0"/>
              <a:t> </a:t>
            </a:r>
            <a:r>
              <a:rPr lang="en-US" sz="2000" dirty="0"/>
              <a:t>B</a:t>
            </a:r>
            <a:r>
              <a:rPr lang="zh-CN" altLang="en-US" sz="2000" dirty="0"/>
              <a:t> </a:t>
            </a:r>
            <a:r>
              <a:rPr lang="ja-JP" altLang="en-US" sz="2000"/>
              <a:t>理解并给出答案的</a:t>
            </a:r>
            <a:r>
              <a:rPr lang="zh-CN" altLang="en-US" sz="2000" dirty="0"/>
              <a:t>解释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Validation Dataset and Test Datase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验证数据集和测试数据集</a:t>
            </a:r>
            <a:endParaRPr dirty="0"/>
          </a:p>
        </p:txBody>
      </p:sp>
      <p:sp>
        <p:nvSpPr>
          <p:cNvPr id="173" name="Validation dataset: a dataset used to evaluate the model…"/>
          <p:cNvSpPr txBox="1">
            <a:spLocks noGrp="1"/>
          </p:cNvSpPr>
          <p:nvPr>
            <p:ph type="body" idx="1"/>
          </p:nvPr>
        </p:nvSpPr>
        <p:spPr>
          <a:xfrm>
            <a:off x="340592" y="849818"/>
            <a:ext cx="8205304" cy="3713441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验证数据集：用于评估模型的数据集</a:t>
            </a:r>
            <a:endParaRPr lang="ja-JP" altLang="en-US"/>
          </a:p>
          <a:p>
            <a:pPr lvl="1"/>
            <a:r>
              <a:rPr lang="ja-JP" altLang="en-US"/>
              <a:t>例如</a:t>
            </a:r>
            <a:r>
              <a:rPr lang="zh-CN" altLang="en-US" dirty="0"/>
              <a:t>：</a:t>
            </a:r>
            <a:r>
              <a:rPr lang="ja-JP" altLang="en-US"/>
              <a:t>取出</a:t>
            </a:r>
            <a:r>
              <a:rPr lang="en-US" altLang="ja-JP" dirty="0"/>
              <a:t>50</a:t>
            </a:r>
            <a:r>
              <a:rPr lang="ja-JP" altLang="en-US"/>
              <a:t>％的训练数据</a:t>
            </a:r>
            <a:endParaRPr lang="ja-JP" altLang="en-US"/>
          </a:p>
          <a:p>
            <a:pPr lvl="1"/>
            <a:r>
              <a:rPr lang="ja-JP" altLang="en-US"/>
              <a:t>不应与训练数据混在一起（＃</a:t>
            </a:r>
            <a:r>
              <a:rPr lang="en-US" altLang="ja-JP" dirty="0"/>
              <a:t>1</a:t>
            </a:r>
            <a:r>
              <a:rPr lang="zh-CN" altLang="en-US" dirty="0"/>
              <a:t> </a:t>
            </a:r>
            <a:r>
              <a:rPr lang="ja-JP" altLang="en-US"/>
              <a:t>常见错误）</a:t>
            </a:r>
            <a:endParaRPr lang="en-US" altLang="ja-JP" dirty="0"/>
          </a:p>
          <a:p>
            <a:r>
              <a:rPr lang="ja-JP" altLang="en-US"/>
              <a:t>测试数据集：只可以使用一次数据集，例如</a:t>
            </a:r>
            <a:endParaRPr lang="ja-JP" altLang="en-US"/>
          </a:p>
          <a:p>
            <a:pPr lvl="1"/>
            <a:r>
              <a:rPr lang="ja-JP" altLang="en-US"/>
              <a:t>未来的考试</a:t>
            </a:r>
            <a:endParaRPr lang="ja-JP" altLang="en-US"/>
          </a:p>
          <a:p>
            <a:pPr lvl="1"/>
            <a:r>
              <a:rPr lang="ja-JP" altLang="en-US"/>
              <a:t>我买的房子售价</a:t>
            </a:r>
            <a:endParaRPr lang="ja-JP" altLang="en-US"/>
          </a:p>
          <a:p>
            <a:pPr lvl="1"/>
            <a:r>
              <a:rPr lang="en-US" dirty="0"/>
              <a:t>Kaggle</a:t>
            </a:r>
            <a:r>
              <a:rPr lang="ja-JP" altLang="en-US"/>
              <a:t>的私人排行榜中使用的数据集</a:t>
            </a:r>
            <a:endParaRPr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K-fold Cross Valid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K </a:t>
            </a:r>
            <a:r>
              <a:rPr lang="ja-JP" altLang="en-US"/>
              <a:t>折交叉验证 </a:t>
            </a:r>
            <a:endParaRPr lang="ja-JP" altLang="en-US"/>
          </a:p>
        </p:txBody>
      </p:sp>
      <p:sp>
        <p:nvSpPr>
          <p:cNvPr id="176" name="Useful when not sufficient data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ja-JP" altLang="en-US" sz="2000"/>
              <a:t>在没有足够的数据时非常有用</a:t>
            </a:r>
            <a:endParaRPr lang="ja-JP" altLang="en-US" sz="2000"/>
          </a:p>
          <a:p>
            <a:r>
              <a:rPr lang="ja-JP" altLang="en-US" sz="2000"/>
              <a:t>算法：</a:t>
            </a:r>
            <a:endParaRPr lang="ja-JP" altLang="en-US" sz="2000"/>
          </a:p>
          <a:p>
            <a:pPr lvl="1"/>
            <a:r>
              <a:rPr lang="ja-JP" altLang="en-US" sz="2000"/>
              <a:t>将训练数据划分为</a:t>
            </a:r>
            <a:r>
              <a:rPr lang="zh-CN" altLang="en-US" sz="2000" dirty="0"/>
              <a:t> </a:t>
            </a:r>
            <a:r>
              <a:rPr lang="en-US" sz="2000" dirty="0"/>
              <a:t>K </a:t>
            </a:r>
            <a:r>
              <a:rPr lang="ja-JP" altLang="en-US" sz="2000"/>
              <a:t>个部分</a:t>
            </a:r>
            <a:endParaRPr lang="ja-JP" altLang="en-US" sz="2000"/>
          </a:p>
          <a:p>
            <a:pPr lvl="1"/>
            <a:r>
              <a:rPr lang="ja-JP" altLang="en-US" sz="2000"/>
              <a:t>对于</a:t>
            </a:r>
            <a:r>
              <a:rPr lang="zh-CN" alt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= 1，...，K</a:t>
            </a:r>
            <a:endParaRPr lang="en-US" sz="2000" dirty="0"/>
          </a:p>
          <a:p>
            <a:pPr lvl="1"/>
            <a:r>
              <a:rPr lang="ja-JP" altLang="en-US" sz="2000"/>
              <a:t>使用第</a:t>
            </a:r>
            <a:r>
              <a:rPr lang="zh-CN" altLang="en-US" sz="2000" dirty="0"/>
              <a:t> </a:t>
            </a:r>
            <a:r>
              <a:rPr lang="en-US" altLang="zh-CN" sz="2000" dirty="0" err="1"/>
              <a:t>i</a:t>
            </a:r>
            <a:r>
              <a:rPr lang="zh-CN" altLang="en-US" sz="2000" dirty="0"/>
              <a:t> </a:t>
            </a:r>
            <a:r>
              <a:rPr lang="ja-JP" altLang="en-US" sz="2000"/>
              <a:t>部分作为验证集，其余部分用于训练</a:t>
            </a:r>
            <a:endParaRPr lang="ja-JP" altLang="en-US" sz="2000"/>
          </a:p>
          <a:p>
            <a:pPr lvl="1"/>
            <a:r>
              <a:rPr lang="ja-JP" altLang="en-US" sz="2000"/>
              <a:t>报告</a:t>
            </a:r>
            <a:r>
              <a:rPr lang="zh-CN" altLang="en-US" sz="2000" dirty="0"/>
              <a:t> </a:t>
            </a:r>
            <a:r>
              <a:rPr lang="en-US" sz="2000" dirty="0"/>
              <a:t>K</a:t>
            </a:r>
            <a:r>
              <a:rPr lang="zh-CN" altLang="en-US" sz="2000" dirty="0"/>
              <a:t> </a:t>
            </a:r>
            <a:r>
              <a:rPr lang="ja-JP" altLang="en-US" sz="2000"/>
              <a:t>个</a:t>
            </a:r>
            <a:r>
              <a:rPr lang="zh-CN" altLang="en-US" sz="2000" dirty="0"/>
              <a:t>部分在</a:t>
            </a:r>
            <a:r>
              <a:rPr lang="ja-JP" altLang="en-US" sz="2000"/>
              <a:t>验证</a:t>
            </a:r>
            <a:r>
              <a:rPr lang="zh-CN" altLang="en-US" sz="2000" dirty="0"/>
              <a:t>时的</a:t>
            </a:r>
            <a:r>
              <a:rPr lang="ja-JP" altLang="en-US" sz="2000"/>
              <a:t>平均错误</a:t>
            </a:r>
            <a:endParaRPr lang="ja-JP" altLang="en-US" sz="2000"/>
          </a:p>
          <a:p>
            <a:r>
              <a:rPr lang="ja-JP" altLang="en-US" sz="2000"/>
              <a:t>常见</a:t>
            </a:r>
            <a:r>
              <a:rPr lang="zh-CN" altLang="en-US" sz="2000" dirty="0"/>
              <a:t> </a:t>
            </a:r>
            <a:r>
              <a:rPr lang="en-US" sz="2000" dirty="0"/>
              <a:t>K</a:t>
            </a:r>
            <a:r>
              <a:rPr lang="zh-CN" altLang="en-US" sz="2000" dirty="0"/>
              <a:t> </a:t>
            </a:r>
            <a:r>
              <a:rPr lang="ja-JP" altLang="en-US" sz="2000"/>
              <a:t>值选择</a:t>
            </a:r>
            <a:r>
              <a:rPr lang="zh-CN" altLang="en-US" sz="2000" dirty="0"/>
              <a:t>：</a:t>
            </a:r>
            <a:r>
              <a:rPr lang="en-US" sz="2000" dirty="0"/>
              <a:t>5</a:t>
            </a:r>
            <a:r>
              <a:rPr lang="zh-CN" altLang="en-US" sz="2000" dirty="0"/>
              <a:t> </a:t>
            </a:r>
            <a:r>
              <a:rPr lang="en-US" altLang="zh-CN" sz="2000" dirty="0"/>
              <a:t>-</a:t>
            </a:r>
            <a:r>
              <a:rPr lang="zh-CN" altLang="en-US" sz="2000" dirty="0"/>
              <a:t> </a:t>
            </a:r>
            <a:r>
              <a:rPr lang="en-US" altLang="ja-JP" sz="2000" dirty="0"/>
              <a:t>10</a:t>
            </a:r>
            <a:endParaRPr sz="2000" dirty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Underfitting…"/>
          <p:cNvSpPr txBox="1">
            <a:spLocks noGrp="1"/>
          </p:cNvSpPr>
          <p:nvPr>
            <p:ph type="title"/>
          </p:nvPr>
        </p:nvSpPr>
        <p:spPr>
          <a:xfrm>
            <a:off x="386234" y="1754212"/>
            <a:ext cx="3431678" cy="1635075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欠拟合</a:t>
            </a:r>
            <a:br>
              <a:rPr lang="ja-JP" altLang="en-US"/>
            </a:br>
            <a:r>
              <a:rPr lang="ja-JP" altLang="en-US"/>
              <a:t>过拟合</a:t>
            </a:r>
            <a:endParaRPr dirty="0"/>
          </a:p>
        </p:txBody>
      </p:sp>
      <p:pic>
        <p:nvPicPr>
          <p:cNvPr id="179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1725" y="1744186"/>
            <a:ext cx="4940468" cy="140494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0" name="Image credit: hackernoon.com"/>
          <p:cNvSpPr txBox="1"/>
          <p:nvPr/>
        </p:nvSpPr>
        <p:spPr>
          <a:xfrm>
            <a:off x="5380416" y="3393909"/>
            <a:ext cx="1225655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1200"/>
            </a:lvl1pPr>
          </a:lstStyle>
          <a:p>
            <a:r>
              <a:rPr dirty="0" err="1"/>
              <a:t>hackernoon.com</a:t>
            </a:r>
            <a:endParaRPr dirty="0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Underfitting and Overfitt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ja-JP" altLang="en-US"/>
              <a:t>欠拟合</a:t>
            </a:r>
            <a:r>
              <a:rPr lang="zh-CN" altLang="en-US" dirty="0"/>
              <a:t> </a:t>
            </a:r>
            <a:r>
              <a:rPr lang="ja-JP" altLang="en-US"/>
              <a:t>和</a:t>
            </a:r>
            <a:r>
              <a:rPr lang="zh-CN" altLang="en-US" dirty="0"/>
              <a:t> </a:t>
            </a:r>
            <a:r>
              <a:rPr lang="ja-JP" altLang="en-US"/>
              <a:t>过拟合</a:t>
            </a:r>
            <a:endParaRPr lang="en-US" dirty="0"/>
          </a:p>
        </p:txBody>
      </p:sp>
      <p:sp>
        <p:nvSpPr>
          <p:cNvPr id="183" name="Model capacity"/>
          <p:cNvSpPr txBox="1"/>
          <p:nvPr/>
        </p:nvSpPr>
        <p:spPr>
          <a:xfrm>
            <a:off x="985537" y="2524946"/>
            <a:ext cx="1426669" cy="369332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b="1"/>
            </a:lvl1pPr>
          </a:lstStyle>
          <a:p>
            <a:r>
              <a:rPr lang="ja-JP" altLang="en-US"/>
              <a:t>模型复杂度</a:t>
            </a:r>
            <a:endParaRPr dirty="0"/>
          </a:p>
        </p:txBody>
      </p:sp>
      <p:sp>
        <p:nvSpPr>
          <p:cNvPr id="184" name="Data complexity"/>
          <p:cNvSpPr txBox="1"/>
          <p:nvPr/>
        </p:nvSpPr>
        <p:spPr>
          <a:xfrm>
            <a:off x="4418884" y="971390"/>
            <a:ext cx="1951715" cy="369332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b="1"/>
            </a:lvl1pPr>
          </a:lstStyle>
          <a:p>
            <a:r>
              <a:rPr lang="ja-JP" altLang="en-US"/>
              <a:t>数据复杂度</a:t>
            </a:r>
            <a:endParaRPr dirty="0"/>
          </a:p>
        </p:txBody>
      </p:sp>
      <p:sp>
        <p:nvSpPr>
          <p:cNvPr id="185" name="v"/>
          <p:cNvSpPr txBox="1"/>
          <p:nvPr/>
        </p:nvSpPr>
        <p:spPr>
          <a:xfrm>
            <a:off x="3800406" y="1922094"/>
            <a:ext cx="218441" cy="35066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r>
              <a:t>v</a:t>
            </a:r>
          </a:p>
        </p:txBody>
      </p:sp>
      <p:graphicFrame>
        <p:nvGraphicFramePr>
          <p:cNvPr id="186" name="Table"/>
          <p:cNvGraphicFramePr/>
          <p:nvPr/>
        </p:nvGraphicFramePr>
        <p:xfrm>
          <a:off x="2537279" y="1514184"/>
          <a:ext cx="4285029" cy="2045976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1428343"/>
                <a:gridCol w="1428343"/>
                <a:gridCol w="1428343"/>
              </a:tblGrid>
              <a:tr h="68199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dirty="0"/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ja-JP" altLang="en-US">
                          <a:solidFill>
                            <a:srgbClr val="474746"/>
                          </a:solidFill>
                        </a:rPr>
                        <a:t>低</a:t>
                      </a:r>
                      <a:endParaRPr dirty="0">
                        <a:solidFill>
                          <a:srgbClr val="474746"/>
                        </a:solidFill>
                      </a:endParaRP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ja-JP" altLang="en-US">
                          <a:solidFill>
                            <a:srgbClr val="474746"/>
                          </a:solidFill>
                        </a:rPr>
                        <a:t>高</a:t>
                      </a:r>
                      <a:endParaRPr dirty="0">
                        <a:solidFill>
                          <a:srgbClr val="474746"/>
                        </a:solidFill>
                      </a:endParaRPr>
                    </a:p>
                  </a:txBody>
                  <a:tcPr marL="0" marR="0" marT="0" marB="0" anchor="ctr" horzOverflow="overflow"/>
                </a:tc>
              </a:tr>
              <a:tr h="681992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ja-JP" altLang="en-US">
                          <a:solidFill>
                            <a:srgbClr val="474746"/>
                          </a:solidFill>
                        </a:rPr>
                        <a:t>低</a:t>
                      </a:r>
                      <a:endParaRPr dirty="0">
                        <a:solidFill>
                          <a:srgbClr val="474746"/>
                        </a:solidFill>
                      </a:endParaRP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ja-JP" altLang="en-US">
                          <a:solidFill>
                            <a:srgbClr val="474746"/>
                          </a:solidFill>
                        </a:rPr>
                        <a:t>正常</a:t>
                      </a:r>
                      <a:endParaRPr dirty="0">
                        <a:solidFill>
                          <a:srgbClr val="474746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4">
                        <a:satOff val="-4404"/>
                        <a:lumOff val="2598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ja-JP" altLang="en-US"/>
                        <a:t>欠拟合</a:t>
                      </a:r>
                      <a:r>
                        <a:rPr lang="zh-CN" altLang="en-US" dirty="0"/>
                        <a:t> </a:t>
                      </a:r>
                      <a:endParaRPr dirty="0">
                        <a:solidFill>
                          <a:srgbClr val="474746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2">
                        <a:lumOff val="10931"/>
                      </a:schemeClr>
                    </a:solidFill>
                  </a:tcPr>
                </a:tc>
              </a:tr>
              <a:tr h="681992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ja-JP" altLang="en-US">
                          <a:solidFill>
                            <a:srgbClr val="474746"/>
                          </a:solidFill>
                        </a:rPr>
                        <a:t>高</a:t>
                      </a:r>
                      <a:endParaRPr dirty="0">
                        <a:solidFill>
                          <a:srgbClr val="474746"/>
                        </a:solidFill>
                      </a:endParaRP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ja-JP" altLang="en-US"/>
                        <a:t>过拟合</a:t>
                      </a:r>
                      <a:endParaRPr dirty="0">
                        <a:solidFill>
                          <a:srgbClr val="474746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5">
                        <a:lumOff val="921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ja-JP" altLang="en-US">
                          <a:solidFill>
                            <a:srgbClr val="474746"/>
                          </a:solidFill>
                        </a:rPr>
                        <a:t>正常</a:t>
                      </a:r>
                      <a:endParaRPr dirty="0">
                        <a:solidFill>
                          <a:srgbClr val="474746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4">
                        <a:satOff val="-4404"/>
                        <a:lumOff val="2598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Model Capacit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模型复杂度</a:t>
            </a:r>
            <a:endParaRPr lang="ja-JP" altLang="en-US" dirty="0"/>
          </a:p>
        </p:txBody>
      </p:sp>
      <p:sp>
        <p:nvSpPr>
          <p:cNvPr id="189" name="The ability to fit variety of functions…"/>
          <p:cNvSpPr txBox="1">
            <a:spLocks noGrp="1"/>
          </p:cNvSpPr>
          <p:nvPr>
            <p:ph type="body" sz="half" idx="1"/>
          </p:nvPr>
        </p:nvSpPr>
        <p:spPr>
          <a:xfrm>
            <a:off x="340592" y="1009331"/>
            <a:ext cx="5119897" cy="355392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ja-JP" altLang="en-US" sz="2000"/>
              <a:t>即</a:t>
            </a:r>
            <a:r>
              <a:rPr lang="zh-CN" altLang="en-US" sz="2000" dirty="0"/>
              <a:t>“</a:t>
            </a:r>
            <a:r>
              <a:rPr lang="ja-JP" altLang="en-US" sz="2000"/>
              <a:t>可适应不同数据分布</a:t>
            </a:r>
            <a:r>
              <a:rPr lang="zh-CN" altLang="en-US" sz="2000" dirty="0"/>
              <a:t>”</a:t>
            </a:r>
            <a:r>
              <a:rPr lang="ja-JP" altLang="en-US" sz="2000"/>
              <a:t>的能力</a:t>
            </a:r>
            <a:endParaRPr lang="ja-JP" altLang="en-US" sz="2000"/>
          </a:p>
          <a:p>
            <a:r>
              <a:rPr lang="ja-JP" altLang="en-US" sz="2000"/>
              <a:t>低容量模型难以适应训练集</a:t>
            </a:r>
            <a:endParaRPr lang="ja-JP" altLang="en-US" sz="2000"/>
          </a:p>
          <a:p>
            <a:pPr lvl="1"/>
            <a:r>
              <a:rPr lang="ja-JP" altLang="en-US" sz="2000"/>
              <a:t>欠拟合</a:t>
            </a:r>
            <a:endParaRPr lang="ja-JP" altLang="en-US" sz="2000"/>
          </a:p>
          <a:p>
            <a:r>
              <a:rPr lang="ja-JP" altLang="en-US" sz="2000"/>
              <a:t>高容量模型可以记忆训练集</a:t>
            </a:r>
            <a:endParaRPr lang="ja-JP" altLang="en-US" sz="2000"/>
          </a:p>
          <a:p>
            <a:pPr lvl="1"/>
            <a:r>
              <a:rPr lang="ja-JP" altLang="en-US" sz="2000"/>
              <a:t>过拟合</a:t>
            </a:r>
            <a:endParaRPr sz="2000" dirty="0"/>
          </a:p>
        </p:txBody>
      </p:sp>
      <p:pic>
        <p:nvPicPr>
          <p:cNvPr id="190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6373" y="846401"/>
            <a:ext cx="2187876" cy="171529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9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373" y="2836946"/>
            <a:ext cx="2187876" cy="1560347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Influence of Model Complexit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模型复杂度的影响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8434" y="1414992"/>
            <a:ext cx="4234069" cy="295346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Estimate Model Capacity"/>
          <p:cNvSpPr txBox="1">
            <a:spLocks noGrp="1"/>
          </p:cNvSpPr>
          <p:nvPr>
            <p:ph type="title"/>
          </p:nvPr>
        </p:nvSpPr>
        <p:spPr>
          <a:xfrm>
            <a:off x="378068" y="175996"/>
            <a:ext cx="8205305" cy="545743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估计模型复杂度</a:t>
            </a:r>
            <a:endParaRPr dirty="0"/>
          </a:p>
        </p:txBody>
      </p:sp>
      <p:sp>
        <p:nvSpPr>
          <p:cNvPr id="197" name="It’s hard to compare complexity between different algorithms…"/>
          <p:cNvSpPr txBox="1">
            <a:spLocks noGrp="1"/>
          </p:cNvSpPr>
          <p:nvPr>
            <p:ph type="body" idx="1"/>
          </p:nvPr>
        </p:nvSpPr>
        <p:spPr>
          <a:xfrm>
            <a:off x="378068" y="1061027"/>
            <a:ext cx="4613657" cy="3553928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很难比较不同算法之间的复杂度</a:t>
            </a:r>
            <a:endParaRPr lang="ja-JP" altLang="en-US"/>
          </a:p>
          <a:p>
            <a:pPr lvl="1"/>
            <a:r>
              <a:rPr lang="ja-JP" altLang="en-US"/>
              <a:t>例如 树与神经网络</a:t>
            </a:r>
            <a:endParaRPr lang="ja-JP" altLang="en-US"/>
          </a:p>
          <a:p>
            <a:r>
              <a:rPr lang="ja-JP" altLang="en-US"/>
              <a:t>给定算法族，两个主要因素很重要：</a:t>
            </a:r>
            <a:endParaRPr lang="ja-JP" altLang="en-US"/>
          </a:p>
          <a:p>
            <a:pPr lvl="1"/>
            <a:r>
              <a:rPr lang="ja-JP" altLang="en-US"/>
              <a:t>参数个数</a:t>
            </a:r>
            <a:endParaRPr lang="ja-JP" altLang="en-US"/>
          </a:p>
          <a:p>
            <a:pPr lvl="1"/>
            <a:r>
              <a:rPr lang="ja-JP" altLang="en-US"/>
              <a:t>每个参数采用的值</a:t>
            </a:r>
            <a:endParaRPr dirty="0"/>
          </a:p>
        </p:txBody>
      </p:sp>
      <p:pic>
        <p:nvPicPr>
          <p:cNvPr id="198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0654" y="1270241"/>
            <a:ext cx="1850134" cy="895011"/>
          </a:xfrm>
          <a:prstGeom prst="rect">
            <a:avLst/>
          </a:prstGeom>
          <a:ln w="12700">
            <a:miter lim="400000"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9" name="Equation"/>
              <p:cNvSpPr txBox="1"/>
              <p:nvPr/>
            </p:nvSpPr>
            <p:spPr>
              <a:xfrm>
                <a:off x="6682440" y="895291"/>
                <a:ext cx="459360" cy="16573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99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2440" y="895291"/>
                <a:ext cx="459360" cy="165736"/>
              </a:xfrm>
              <a:prstGeom prst="rect">
                <a:avLst/>
              </a:prstGeom>
              <a:blipFill rotWithShape="1">
                <a:blip r:embed="rId2"/>
                <a:stretch>
                  <a:fillRect l="-73" t="-348" r="-43831" b="-65169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0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654" y="2897592"/>
            <a:ext cx="1850134" cy="1311567"/>
          </a:xfrm>
          <a:prstGeom prst="rect">
            <a:avLst/>
          </a:prstGeom>
          <a:ln w="12700">
            <a:miter lim="400000"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Equation"/>
              <p:cNvSpPr txBox="1"/>
              <p:nvPr/>
            </p:nvSpPr>
            <p:spPr>
              <a:xfrm>
                <a:off x="5948953" y="2504540"/>
                <a:ext cx="1850134" cy="19682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20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953" y="2504540"/>
                <a:ext cx="1850134" cy="196825"/>
              </a:xfrm>
              <a:prstGeom prst="rect">
                <a:avLst/>
              </a:prstGeom>
              <a:blipFill rotWithShape="1">
                <a:blip r:embed="rId4"/>
                <a:stretch>
                  <a:fillRect l="-15" t="-51" r="-27388" b="-39322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VC Dimens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VC</a:t>
            </a:r>
            <a:r>
              <a:rPr lang="ja-JP" altLang="en-US"/>
              <a:t>维度</a:t>
            </a:r>
            <a:endParaRPr dirty="0"/>
          </a:p>
        </p:txBody>
      </p:sp>
      <p:sp>
        <p:nvSpPr>
          <p:cNvPr id="204" name="A center topic in Statistic Learning Theory…"/>
          <p:cNvSpPr txBox="1">
            <a:spLocks noGrp="1"/>
          </p:cNvSpPr>
          <p:nvPr>
            <p:ph type="body" idx="1"/>
          </p:nvPr>
        </p:nvSpPr>
        <p:spPr>
          <a:xfrm>
            <a:off x="340593" y="1009331"/>
            <a:ext cx="4396300" cy="3679239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统计学习理论的中心主题</a:t>
            </a:r>
            <a:endParaRPr lang="ja-JP" altLang="en-US"/>
          </a:p>
          <a:p>
            <a:r>
              <a:rPr lang="ja-JP" altLang="en-US"/>
              <a:t>对于分类模型，</a:t>
            </a:r>
            <a:r>
              <a:rPr lang="en-US" dirty="0"/>
              <a:t>VC</a:t>
            </a:r>
            <a:r>
              <a:rPr lang="ja-JP" altLang="en-US"/>
              <a:t>维度等于这个数据集的大小，无论我们如何分配标签，都存在一个模型来完美地对它进行分类</a:t>
            </a:r>
            <a:endParaRPr dirty="0"/>
          </a:p>
        </p:txBody>
      </p:sp>
      <p:pic>
        <p:nvPicPr>
          <p:cNvPr id="205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1539" y="660678"/>
            <a:ext cx="1193272" cy="159102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0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652" y="2463042"/>
            <a:ext cx="1255046" cy="171630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7" name="Alexey Chervonenkis"/>
          <p:cNvSpPr txBox="1"/>
          <p:nvPr/>
        </p:nvSpPr>
        <p:spPr>
          <a:xfrm>
            <a:off x="6514154" y="3164497"/>
            <a:ext cx="2012912" cy="313393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lnSpc>
                <a:spcPts val="5300"/>
              </a:lnSpc>
              <a:defRPr sz="1600">
                <a:solidFill>
                  <a:srgbClr val="000000">
                    <a:alpha val="87058"/>
                  </a:srgbClr>
                </a:solidFill>
              </a:defRPr>
            </a:pPr>
            <a:r>
              <a:t>Alexey </a:t>
            </a:r>
            <a:r>
              <a:rPr b="1"/>
              <a:t>C</a:t>
            </a:r>
            <a:r>
              <a:t>hervonenkis</a:t>
            </a:r>
          </a:p>
        </p:txBody>
      </p:sp>
      <p:sp>
        <p:nvSpPr>
          <p:cNvPr id="208" name="Vladimir Vapnik"/>
          <p:cNvSpPr txBox="1"/>
          <p:nvPr/>
        </p:nvSpPr>
        <p:spPr>
          <a:xfrm>
            <a:off x="6530269" y="1299496"/>
            <a:ext cx="1515825" cy="313393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lnSpc>
                <a:spcPts val="4700"/>
              </a:lnSpc>
              <a:spcBef>
                <a:spcPts val="500"/>
              </a:spcBef>
              <a:defRPr sz="1600">
                <a:solidFill>
                  <a:srgbClr val="000000"/>
                </a:solidFill>
              </a:defRPr>
            </a:pPr>
            <a:r>
              <a:t>Vladimir </a:t>
            </a:r>
            <a:r>
              <a:rPr b="1"/>
              <a:t>V</a:t>
            </a:r>
            <a:r>
              <a:t>apnik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2-D perceptron: VCdim = 3…"/>
          <p:cNvSpPr txBox="1">
            <a:spLocks noGrp="1"/>
          </p:cNvSpPr>
          <p:nvPr>
            <p:ph type="body" idx="1"/>
          </p:nvPr>
        </p:nvSpPr>
        <p:spPr>
          <a:xfrm>
            <a:off x="340592" y="1009331"/>
            <a:ext cx="8205304" cy="365407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2-D</a:t>
            </a:r>
            <a:r>
              <a:rPr lang="ja-JP" altLang="en-US"/>
              <a:t>感知机</a:t>
            </a:r>
            <a:r>
              <a:rPr lang="zh-CN" altLang="en-US" dirty="0"/>
              <a:t>（</a:t>
            </a:r>
            <a:r>
              <a:rPr lang="ja-JP" altLang="en-US"/>
              <a:t>输入为</a:t>
            </a:r>
            <a:r>
              <a:rPr lang="en-US" altLang="zh-CN" dirty="0"/>
              <a:t>2-D</a:t>
            </a:r>
            <a:r>
              <a:rPr lang="zh-CN" altLang="en-US" dirty="0"/>
              <a:t> ）</a:t>
            </a:r>
            <a:r>
              <a:rPr lang="ja-JP" altLang="en-US"/>
              <a:t>：</a:t>
            </a:r>
            <a:r>
              <a:rPr lang="en-US" dirty="0" err="1"/>
              <a:t>VCdim</a:t>
            </a:r>
            <a:r>
              <a:rPr lang="en-US" dirty="0"/>
              <a:t> = 3</a:t>
            </a:r>
            <a:endParaRPr lang="en-US" dirty="0"/>
          </a:p>
          <a:p>
            <a:r>
              <a:rPr lang="ja-JP" altLang="en-US"/>
              <a:t>可以分</a:t>
            </a:r>
            <a:r>
              <a:rPr lang="en-US" altLang="ja-JP" dirty="0"/>
              <a:t>3</a:t>
            </a:r>
            <a:r>
              <a:rPr lang="ja-JP" altLang="en-US"/>
              <a:t>类，但不能分</a:t>
            </a:r>
            <a:r>
              <a:rPr lang="en-US" altLang="ja-JP" dirty="0"/>
              <a:t>4</a:t>
            </a:r>
            <a:r>
              <a:rPr lang="ja-JP" altLang="en-US"/>
              <a:t>类（</a:t>
            </a:r>
            <a:r>
              <a:rPr lang="en-US" altLang="ja-JP" dirty="0"/>
              <a:t>XOR</a:t>
            </a:r>
            <a:r>
              <a:rPr lang="en-US" dirty="0"/>
              <a:t>）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ja-JP" altLang="en-US"/>
              <a:t>具有</a:t>
            </a:r>
            <a:r>
              <a:rPr lang="en-US" dirty="0"/>
              <a:t>N</a:t>
            </a:r>
            <a:r>
              <a:rPr lang="ja-JP" altLang="en-US"/>
              <a:t>个参数的感知机：</a:t>
            </a:r>
            <a:r>
              <a:rPr lang="en-US" dirty="0" err="1"/>
              <a:t>VCdim</a:t>
            </a:r>
            <a:r>
              <a:rPr lang="en-US" dirty="0"/>
              <a:t> =</a:t>
            </a:r>
            <a:endParaRPr lang="en-US" dirty="0"/>
          </a:p>
          <a:p>
            <a:r>
              <a:rPr lang="ja-JP" altLang="en-US"/>
              <a:t>一些多层感知机：</a:t>
            </a:r>
            <a:r>
              <a:rPr lang="en-US" dirty="0" err="1"/>
              <a:t>VCdim</a:t>
            </a:r>
            <a:r>
              <a:rPr lang="en-US" dirty="0"/>
              <a:t> =</a:t>
            </a:r>
            <a:endParaRPr dirty="0"/>
          </a:p>
        </p:txBody>
      </p:sp>
      <p:sp>
        <p:nvSpPr>
          <p:cNvPr id="211" name="VC-Dimension for Linear Classifi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线性分类器的</a:t>
            </a:r>
            <a:r>
              <a:rPr lang="en-US" dirty="0"/>
              <a:t>VC</a:t>
            </a:r>
            <a:r>
              <a:rPr lang="ja-JP" altLang="en-US"/>
              <a:t>维度</a:t>
            </a:r>
            <a:endParaRPr dirty="0"/>
          </a:p>
        </p:txBody>
      </p:sp>
      <p:sp>
        <p:nvSpPr>
          <p:cNvPr id="212" name="Circle"/>
          <p:cNvSpPr/>
          <p:nvPr/>
        </p:nvSpPr>
        <p:spPr>
          <a:xfrm>
            <a:off x="1287032" y="2212591"/>
            <a:ext cx="179342" cy="175961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</a:p>
        </p:txBody>
      </p:sp>
      <p:sp>
        <p:nvSpPr>
          <p:cNvPr id="213" name="Circle"/>
          <p:cNvSpPr/>
          <p:nvPr/>
        </p:nvSpPr>
        <p:spPr>
          <a:xfrm>
            <a:off x="951565" y="2873206"/>
            <a:ext cx="179343" cy="175961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</a:p>
        </p:txBody>
      </p:sp>
      <p:sp>
        <p:nvSpPr>
          <p:cNvPr id="214" name="Circle"/>
          <p:cNvSpPr/>
          <p:nvPr/>
        </p:nvSpPr>
        <p:spPr>
          <a:xfrm>
            <a:off x="1588464" y="2873206"/>
            <a:ext cx="179343" cy="175961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</a:p>
        </p:txBody>
      </p:sp>
      <p:sp>
        <p:nvSpPr>
          <p:cNvPr id="215" name="Circle"/>
          <p:cNvSpPr/>
          <p:nvPr/>
        </p:nvSpPr>
        <p:spPr>
          <a:xfrm>
            <a:off x="2706568" y="2212591"/>
            <a:ext cx="179342" cy="175961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</a:p>
        </p:txBody>
      </p:sp>
      <p:sp>
        <p:nvSpPr>
          <p:cNvPr id="216" name="Circle"/>
          <p:cNvSpPr/>
          <p:nvPr/>
        </p:nvSpPr>
        <p:spPr>
          <a:xfrm>
            <a:off x="2371101" y="2873206"/>
            <a:ext cx="179342" cy="175961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</a:p>
        </p:txBody>
      </p:sp>
      <p:sp>
        <p:nvSpPr>
          <p:cNvPr id="217" name="Circle"/>
          <p:cNvSpPr/>
          <p:nvPr/>
        </p:nvSpPr>
        <p:spPr>
          <a:xfrm>
            <a:off x="3008000" y="2873206"/>
            <a:ext cx="179343" cy="175961"/>
          </a:xfrm>
          <a:prstGeom prst="ellipse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</a:p>
        </p:txBody>
      </p:sp>
      <p:sp>
        <p:nvSpPr>
          <p:cNvPr id="218" name="Circle"/>
          <p:cNvSpPr/>
          <p:nvPr/>
        </p:nvSpPr>
        <p:spPr>
          <a:xfrm>
            <a:off x="4126103" y="2212591"/>
            <a:ext cx="179343" cy="175961"/>
          </a:xfrm>
          <a:prstGeom prst="ellipse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</a:p>
        </p:txBody>
      </p:sp>
      <p:sp>
        <p:nvSpPr>
          <p:cNvPr id="219" name="Circle"/>
          <p:cNvSpPr/>
          <p:nvPr/>
        </p:nvSpPr>
        <p:spPr>
          <a:xfrm>
            <a:off x="3790636" y="2873206"/>
            <a:ext cx="179343" cy="175961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</a:p>
        </p:txBody>
      </p:sp>
      <p:sp>
        <p:nvSpPr>
          <p:cNvPr id="220" name="Circle"/>
          <p:cNvSpPr/>
          <p:nvPr/>
        </p:nvSpPr>
        <p:spPr>
          <a:xfrm>
            <a:off x="4427536" y="2873206"/>
            <a:ext cx="179342" cy="175961"/>
          </a:xfrm>
          <a:prstGeom prst="ellipse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</a:p>
        </p:txBody>
      </p:sp>
      <p:sp>
        <p:nvSpPr>
          <p:cNvPr id="221" name="Circle"/>
          <p:cNvSpPr/>
          <p:nvPr/>
        </p:nvSpPr>
        <p:spPr>
          <a:xfrm>
            <a:off x="5545639" y="2212591"/>
            <a:ext cx="179343" cy="175961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</a:p>
        </p:txBody>
      </p:sp>
      <p:sp>
        <p:nvSpPr>
          <p:cNvPr id="222" name="Circle"/>
          <p:cNvSpPr/>
          <p:nvPr/>
        </p:nvSpPr>
        <p:spPr>
          <a:xfrm>
            <a:off x="5210172" y="2873206"/>
            <a:ext cx="179343" cy="175961"/>
          </a:xfrm>
          <a:prstGeom prst="ellipse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</a:p>
        </p:txBody>
      </p:sp>
      <p:sp>
        <p:nvSpPr>
          <p:cNvPr id="223" name="Circle"/>
          <p:cNvSpPr/>
          <p:nvPr/>
        </p:nvSpPr>
        <p:spPr>
          <a:xfrm>
            <a:off x="5847072" y="2873206"/>
            <a:ext cx="179342" cy="175961"/>
          </a:xfrm>
          <a:prstGeom prst="ellipse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</a:p>
        </p:txBody>
      </p:sp>
      <p:sp>
        <p:nvSpPr>
          <p:cNvPr id="224" name="Line"/>
          <p:cNvSpPr/>
          <p:nvPr/>
        </p:nvSpPr>
        <p:spPr>
          <a:xfrm flipV="1">
            <a:off x="516869" y="2209020"/>
            <a:ext cx="451582" cy="827060"/>
          </a:xfrm>
          <a:prstGeom prst="line">
            <a:avLst/>
          </a:prstGeom>
          <a:ln w="38100">
            <a:solidFill>
              <a:schemeClr val="accent3"/>
            </a:solidFill>
          </a:ln>
        </p:spPr>
        <p:txBody>
          <a:bodyPr lIns="45719" rIns="45719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</a:p>
        </p:txBody>
      </p:sp>
      <p:sp>
        <p:nvSpPr>
          <p:cNvPr id="225" name="Line"/>
          <p:cNvSpPr/>
          <p:nvPr/>
        </p:nvSpPr>
        <p:spPr>
          <a:xfrm flipV="1">
            <a:off x="2719041" y="2336020"/>
            <a:ext cx="451582" cy="827060"/>
          </a:xfrm>
          <a:prstGeom prst="line">
            <a:avLst/>
          </a:prstGeom>
          <a:ln w="38100">
            <a:solidFill>
              <a:schemeClr val="accent3"/>
            </a:solidFill>
          </a:ln>
        </p:spPr>
        <p:txBody>
          <a:bodyPr lIns="45719" rIns="45719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</a:p>
        </p:txBody>
      </p:sp>
      <p:sp>
        <p:nvSpPr>
          <p:cNvPr id="226" name="Line"/>
          <p:cNvSpPr/>
          <p:nvPr/>
        </p:nvSpPr>
        <p:spPr>
          <a:xfrm flipH="1" flipV="1">
            <a:off x="3857802" y="2285840"/>
            <a:ext cx="506840" cy="850777"/>
          </a:xfrm>
          <a:prstGeom prst="line">
            <a:avLst/>
          </a:prstGeom>
          <a:ln w="38100">
            <a:solidFill>
              <a:schemeClr val="accent3"/>
            </a:solidFill>
          </a:ln>
        </p:spPr>
        <p:txBody>
          <a:bodyPr lIns="45719" rIns="45719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</a:p>
        </p:txBody>
      </p:sp>
      <p:sp>
        <p:nvSpPr>
          <p:cNvPr id="227" name="Line"/>
          <p:cNvSpPr/>
          <p:nvPr/>
        </p:nvSpPr>
        <p:spPr>
          <a:xfrm flipH="1">
            <a:off x="5226538" y="2624699"/>
            <a:ext cx="817545" cy="1"/>
          </a:xfrm>
          <a:prstGeom prst="line">
            <a:avLst/>
          </a:prstGeom>
          <a:ln w="38100">
            <a:solidFill>
              <a:schemeClr val="accent3"/>
            </a:solidFill>
          </a:ln>
        </p:spPr>
        <p:txBody>
          <a:bodyPr lIns="45719" rIns="45719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</a:p>
        </p:txBody>
      </p:sp>
      <p:grpSp>
        <p:nvGrpSpPr>
          <p:cNvPr id="233" name="Group"/>
          <p:cNvGrpSpPr/>
          <p:nvPr/>
        </p:nvGrpSpPr>
        <p:grpSpPr>
          <a:xfrm>
            <a:off x="6889614" y="2118525"/>
            <a:ext cx="1110293" cy="1008050"/>
            <a:chOff x="0" y="0"/>
            <a:chExt cx="1110292" cy="1008049"/>
          </a:xfrm>
        </p:grpSpPr>
        <p:sp>
          <p:nvSpPr>
            <p:cNvPr id="228" name="Circle"/>
            <p:cNvSpPr/>
            <p:nvPr/>
          </p:nvSpPr>
          <p:spPr>
            <a:xfrm>
              <a:off x="793306" y="139348"/>
              <a:ext cx="179342" cy="175961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900"/>
                </a:spcBef>
                <a:defRPr sz="4000" b="1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29" name="Circle"/>
            <p:cNvSpPr/>
            <p:nvPr/>
          </p:nvSpPr>
          <p:spPr>
            <a:xfrm>
              <a:off x="156406" y="799964"/>
              <a:ext cx="179343" cy="175961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900"/>
                </a:spcBef>
                <a:defRPr sz="4000" b="1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30" name="Circle"/>
            <p:cNvSpPr/>
            <p:nvPr/>
          </p:nvSpPr>
          <p:spPr>
            <a:xfrm>
              <a:off x="793306" y="799964"/>
              <a:ext cx="179342" cy="175961"/>
            </a:xfrm>
            <a:prstGeom prst="ellipse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900"/>
                </a:spcBef>
                <a:defRPr sz="4000" b="1">
                  <a:solidFill>
                    <a:schemeClr val="accent4"/>
                  </a:solidFill>
                </a:defRPr>
              </a:pPr>
            </a:p>
          </p:txBody>
        </p:sp>
        <p:sp>
          <p:nvSpPr>
            <p:cNvPr id="231" name="Circle"/>
            <p:cNvSpPr/>
            <p:nvPr/>
          </p:nvSpPr>
          <p:spPr>
            <a:xfrm>
              <a:off x="156406" y="139348"/>
              <a:ext cx="179343" cy="175961"/>
            </a:xfrm>
            <a:prstGeom prst="ellipse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900"/>
                </a:spcBef>
                <a:defRPr sz="4000" b="1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36" name="Connection Line"/>
            <p:cNvSpPr/>
            <p:nvPr/>
          </p:nvSpPr>
          <p:spPr>
            <a:xfrm>
              <a:off x="0" y="0"/>
              <a:ext cx="1110293" cy="10080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611" h="16392" extrusionOk="0">
                  <a:moveTo>
                    <a:pt x="0" y="10067"/>
                  </a:moveTo>
                  <a:cubicBezTo>
                    <a:pt x="18664" y="-5208"/>
                    <a:pt x="21600" y="-3100"/>
                    <a:pt x="8809" y="16392"/>
                  </a:cubicBezTo>
                </a:path>
              </a:pathLst>
            </a:custGeom>
            <a:noFill/>
            <a:ln w="38100" cap="flat">
              <a:solidFill>
                <a:schemeClr val="accent3"/>
              </a:solidFill>
              <a:prstDash val="solid"/>
              <a:round/>
            </a:ln>
            <a:effectLst/>
          </p:spPr>
          <p:txBody>
            <a:bodyPr/>
            <a:lstStyle/>
            <a:p/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4" name="Equation"/>
              <p:cNvSpPr txBox="1"/>
              <p:nvPr/>
            </p:nvSpPr>
            <p:spPr>
              <a:xfrm>
                <a:off x="5226538" y="3600113"/>
                <a:ext cx="227992" cy="20391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sz="2400" dirty="0"/>
              </a:p>
            </p:txBody>
          </p:sp>
        </mc:Choice>
        <mc:Fallback>
          <p:sp>
            <p:nvSpPr>
              <p:cNvPr id="23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6538" y="3600113"/>
                <a:ext cx="227992" cy="203912"/>
              </a:xfrm>
              <a:prstGeom prst="rect">
                <a:avLst/>
              </a:prstGeom>
              <a:blipFill rotWithShape="1">
                <a:blip r:embed="rId1"/>
                <a:stretch>
                  <a:fillRect l="-214" t="-146" r="-81659" b="-7922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5" name="Equation"/>
              <p:cNvSpPr txBox="1"/>
              <p:nvPr/>
            </p:nvSpPr>
            <p:spPr>
              <a:xfrm>
                <a:off x="4443244" y="4025819"/>
                <a:ext cx="1621435" cy="28459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sz="2400" dirty="0"/>
              </a:p>
            </p:txBody>
          </p:sp>
        </mc:Choice>
        <mc:Fallback>
          <p:sp>
            <p:nvSpPr>
              <p:cNvPr id="23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3244" y="4025819"/>
                <a:ext cx="1621435" cy="284596"/>
              </a:xfrm>
              <a:prstGeom prst="rect">
                <a:avLst/>
              </a:prstGeom>
              <a:blipFill rotWithShape="1">
                <a:blip r:embed="rId2"/>
                <a:stretch>
                  <a:fillRect l="-9" t="-195" r="-34515" b="-29886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Usefulness of VC-Dimens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VC</a:t>
            </a:r>
            <a:r>
              <a:rPr lang="ja-JP" altLang="en-US"/>
              <a:t>维度的效用</a:t>
            </a:r>
            <a:endParaRPr dirty="0"/>
          </a:p>
        </p:txBody>
      </p:sp>
      <p:sp>
        <p:nvSpPr>
          <p:cNvPr id="239" name="Provides theory insights why a model work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ja-JP" altLang="en-US"/>
              <a:t>提供理论解释模型的工作原理</a:t>
            </a:r>
            <a:endParaRPr lang="ja-JP" altLang="en-US"/>
          </a:p>
          <a:p>
            <a:pPr lvl="1"/>
            <a:r>
              <a:rPr lang="ja-JP" altLang="en-US"/>
              <a:t>限制了训练误差和泛化误差之间的差距</a:t>
            </a:r>
            <a:endParaRPr lang="ja-JP" altLang="en-US"/>
          </a:p>
          <a:p>
            <a:r>
              <a:rPr lang="ja-JP" altLang="en-US"/>
              <a:t>在深度学习的实践中很少使用</a:t>
            </a:r>
            <a:endParaRPr lang="ja-JP" altLang="en-US"/>
          </a:p>
          <a:p>
            <a:pPr lvl="1"/>
            <a:r>
              <a:rPr lang="ja-JP" altLang="en-US"/>
              <a:t>边界过于宽松</a:t>
            </a:r>
            <a:endParaRPr lang="ja-JP" altLang="en-US"/>
          </a:p>
          <a:p>
            <a:pPr lvl="1"/>
            <a:r>
              <a:rPr lang="ja-JP" altLang="en-US"/>
              <a:t>难以计算深度神经网络的</a:t>
            </a:r>
            <a:r>
              <a:rPr lang="zh-CN" altLang="en-US" dirty="0"/>
              <a:t> </a:t>
            </a:r>
            <a:r>
              <a:rPr lang="en-US" dirty="0"/>
              <a:t>VC</a:t>
            </a:r>
            <a:r>
              <a:rPr lang="zh-CN" altLang="en-US" dirty="0"/>
              <a:t> </a:t>
            </a:r>
            <a:r>
              <a:rPr lang="ja-JP" altLang="en-US"/>
              <a:t>维数</a:t>
            </a:r>
            <a:endParaRPr lang="ja-JP" altLang="en-US"/>
          </a:p>
          <a:p>
            <a:pPr lvl="1"/>
            <a:r>
              <a:rPr lang="ja-JP" altLang="en-US"/>
              <a:t>其他统计学习理论工具也是如此</a:t>
            </a:r>
            <a:endParaRPr dirty="0"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Data Complexit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数据复杂度</a:t>
            </a:r>
            <a:endParaRPr dirty="0"/>
          </a:p>
        </p:txBody>
      </p:sp>
      <p:sp>
        <p:nvSpPr>
          <p:cNvPr id="242" name="Multiple factors matter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ja-JP" altLang="en-US"/>
              <a:t>多种因素很重要</a:t>
            </a:r>
            <a:endParaRPr lang="ja-JP" altLang="en-US"/>
          </a:p>
          <a:p>
            <a:pPr lvl="1"/>
            <a:r>
              <a:rPr lang="ja-JP" altLang="en-US"/>
              <a:t>例子数量</a:t>
            </a:r>
            <a:endParaRPr lang="ja-JP" altLang="en-US"/>
          </a:p>
          <a:p>
            <a:pPr lvl="1"/>
            <a:r>
              <a:rPr lang="ja-JP" altLang="en-US"/>
              <a:t>每个示例中的元素数量</a:t>
            </a:r>
            <a:endParaRPr lang="ja-JP" altLang="en-US"/>
          </a:p>
          <a:p>
            <a:pPr lvl="1"/>
            <a:r>
              <a:rPr lang="ja-JP" altLang="en-US"/>
              <a:t>时间</a:t>
            </a:r>
            <a:r>
              <a:rPr lang="en-US" altLang="ja-JP" dirty="0"/>
              <a:t>/</a:t>
            </a:r>
            <a:r>
              <a:rPr lang="ja-JP" altLang="en-US"/>
              <a:t>空间结构</a:t>
            </a:r>
            <a:endParaRPr lang="ja-JP" altLang="en-US"/>
          </a:p>
          <a:p>
            <a:pPr lvl="1"/>
            <a:r>
              <a:rPr lang="ja-JP" altLang="en-US"/>
              <a:t>多样性</a:t>
            </a:r>
            <a:endParaRPr dirty="0"/>
          </a:p>
        </p:txBody>
      </p:sp>
      <p:pic>
        <p:nvPicPr>
          <p:cNvPr id="243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0301" y="1114689"/>
            <a:ext cx="2444240" cy="15276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4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782" y="3096351"/>
            <a:ext cx="2623278" cy="104931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Weight Decay"/>
          <p:cNvSpPr txBox="1">
            <a:spLocks noGrp="1"/>
          </p:cNvSpPr>
          <p:nvPr>
            <p:ph type="title"/>
          </p:nvPr>
        </p:nvSpPr>
        <p:spPr>
          <a:xfrm>
            <a:off x="442672" y="1732039"/>
            <a:ext cx="2202417" cy="1471596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权重衰减</a:t>
            </a:r>
            <a:endParaRPr lang="en-US" dirty="0"/>
          </a:p>
        </p:txBody>
      </p:sp>
      <p:pic>
        <p:nvPicPr>
          <p:cNvPr id="247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7576" y="966562"/>
            <a:ext cx="5947674" cy="3002550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quared Norm Regularization as Hard Constraint"/>
          <p:cNvSpPr txBox="1">
            <a:spLocks noGrp="1"/>
          </p:cNvSpPr>
          <p:nvPr>
            <p:ph type="title"/>
          </p:nvPr>
        </p:nvSpPr>
        <p:spPr>
          <a:xfrm>
            <a:off x="321761" y="114935"/>
            <a:ext cx="8766927" cy="545743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平方正则化作为</a:t>
            </a:r>
            <a:r>
              <a:rPr lang="zh-CN" altLang="en-US" dirty="0"/>
              <a:t>“</a:t>
            </a:r>
            <a:r>
              <a:rPr lang="ja-JP" altLang="en-US"/>
              <a:t>硬</a:t>
            </a:r>
            <a:r>
              <a:rPr lang="zh-CN" altLang="en-US" dirty="0"/>
              <a:t>”</a:t>
            </a:r>
            <a:r>
              <a:rPr lang="ja-JP" altLang="en-US"/>
              <a:t>约束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0" name="Reduce model complexity by limiting value range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40592" y="1009331"/>
                <a:ext cx="6415849" cy="3553928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ja-JP" altLang="en-US"/>
                  <a:t>通过限制参数值范围来降低模型复杂性</a:t>
                </a:r>
                <a:endParaRPr lang="ja-JP" altLang="en-US"/>
              </a:p>
              <a:p>
                <a:endParaRPr lang="ja-JP" altLang="en-US"/>
              </a:p>
              <a:p>
                <a:endParaRPr lang="ja-JP" altLang="en-US"/>
              </a:p>
              <a:p>
                <a:pPr lvl="1"/>
                <a:r>
                  <a:rPr lang="ja-JP" altLang="en-US"/>
                  <a:t>通常不限制偏差参数 </a:t>
                </a:r>
                <a:r>
                  <a:rPr lang="en-US" i="1"/>
                  <a:t>b</a:t>
                </a:r>
                <a:endParaRPr lang="en-US" i="1" dirty="0"/>
              </a:p>
              <a:p>
                <a:pPr lvl="1"/>
                <a:r>
                  <a:rPr lang="ja-JP" altLang="en-US"/>
                  <a:t>做或不做在实践中几乎没有区别</a:t>
                </a:r>
                <a:endParaRPr lang="ja-JP" altLang="en-US"/>
              </a:p>
              <a:p>
                <a:pPr lvl="1"/>
                <a:r>
                  <a:rPr lang="ja-JP" altLang="en-US"/>
                  <a:t>小</a:t>
                </a:r>
                <a14:m>
                  <m:oMath xmlns:m="http://schemas.openxmlformats.org/officeDocument/2006/math">
                    <m:r>
                      <a:rPr lang="zh-CN" alt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ja-JP" altLang="en-US"/>
                  <a:t>意味着更多的正则化</a:t>
                </a:r>
                <a:endParaRPr dirty="0"/>
              </a:p>
            </p:txBody>
          </p:sp>
        </mc:Choice>
        <mc:Fallback>
          <p:sp>
            <p:nvSpPr>
              <p:cNvPr id="250" name="Reduce model complexity by limiting value range…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40592" y="1009331"/>
                <a:ext cx="6415849" cy="3553928"/>
              </a:xfrm>
              <a:prstGeom prst="rect">
                <a:avLst/>
              </a:prstGeom>
              <a:blipFill rotWithShape="1">
                <a:blip r:embed="rId1"/>
                <a:stretch>
                  <a:fillRect l="-4" t="-9" r="1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1" name="Equation"/>
              <p:cNvSpPr txBox="1"/>
              <p:nvPr/>
            </p:nvSpPr>
            <p:spPr>
              <a:xfrm>
                <a:off x="1099400" y="1705505"/>
                <a:ext cx="4658854" cy="33668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ℓ(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subject</m:t>
                      </m:r>
                      <m:r>
                        <m:rPr>
                          <m:nor/>
                        </m:rP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sSup>
                        <m:sSupPr>
                          <m:ctrl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p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sz="2500" dirty="0"/>
              </a:p>
            </p:txBody>
          </p:sp>
        </mc:Choice>
        <mc:Fallback>
          <p:sp>
            <p:nvSpPr>
              <p:cNvPr id="25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400" y="1705505"/>
                <a:ext cx="4658854" cy="336681"/>
              </a:xfrm>
              <a:prstGeom prst="rect">
                <a:avLst/>
              </a:prstGeom>
              <a:blipFill rotWithShape="1">
                <a:blip r:embed="rId2"/>
                <a:stretch>
                  <a:fillRect l="-5" t="-157" r="-8653" b="-1791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061" y="1129089"/>
            <a:ext cx="2643461" cy="25463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53" name="Equation"/>
          <p:cNvSpPr txBox="1"/>
          <p:nvPr/>
        </p:nvSpPr>
        <p:spPr>
          <a:xfrm>
            <a:off x="2299445" y="3988992"/>
            <a:ext cx="65" cy="36933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defRPr>
                <a:solidFill>
                  <a:srgbClr val="000000"/>
                </a:solidFill>
              </a:defRPr>
            </a:pPr>
            <a:endParaRPr sz="2400" dirty="0"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quared Norm Regularization as Soft Constraint"/>
          <p:cNvSpPr txBox="1">
            <a:spLocks noGrp="1"/>
          </p:cNvSpPr>
          <p:nvPr>
            <p:ph type="title"/>
          </p:nvPr>
        </p:nvSpPr>
        <p:spPr>
          <a:xfrm>
            <a:off x="321761" y="114935"/>
            <a:ext cx="8500478" cy="545743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平方正则化作为</a:t>
            </a:r>
            <a:r>
              <a:rPr lang="zh-CN" altLang="en-US" dirty="0"/>
              <a:t>“</a:t>
            </a:r>
            <a:r>
              <a:rPr lang="ja-JP" altLang="en-US"/>
              <a:t>软</a:t>
            </a:r>
            <a:r>
              <a:rPr lang="zh-CN" altLang="en-US" dirty="0"/>
              <a:t>”</a:t>
            </a:r>
            <a:r>
              <a:rPr lang="ja-JP" altLang="en-US"/>
              <a:t>约束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6" name="For each    , we can find     to rewrite the hard constraint version as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40592" y="1009331"/>
                <a:ext cx="8500478" cy="355392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r>
                  <a:rPr lang="ja-JP" altLang="en-US"/>
                  <a:t>对于每一个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ja-JP" altLang="en-US"/>
                  <a:t>我们都可以找到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ja-JP" altLang="en-US"/>
                  <a:t>将硬约束版本重写为</a:t>
                </a:r>
                <a:endParaRPr lang="ja-JP" altLang="en-US"/>
              </a:p>
              <a:p>
                <a:endParaRPr lang="ja-JP" altLang="en-US"/>
              </a:p>
              <a:p>
                <a:endParaRPr lang="ja-JP" altLang="en-US"/>
              </a:p>
              <a:p>
                <a:pPr lvl="1"/>
                <a:r>
                  <a:rPr lang="ja-JP" altLang="en-US"/>
                  <a:t>可以用拉格朗日乘数法证明</a:t>
                </a:r>
                <a:endParaRPr lang="ja-JP" altLang="en-US"/>
              </a:p>
              <a:p>
                <a:pPr lvl="1"/>
                <a:r>
                  <a:rPr lang="ja-JP" altLang="en-US"/>
                  <a:t>超参数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ja-JP" altLang="en-US"/>
                  <a:t>控制正则化的重要性</a:t>
                </a:r>
                <a:endParaRPr lang="ja-JP" altLang="en-US"/>
              </a:p>
              <a:p>
                <a:pPr lvl="1"/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ja-JP" altLang="en-US"/>
                  <a:t>： 没有效果</a:t>
                </a:r>
                <a:endParaRPr lang="en-US" altLang="ja-JP" dirty="0"/>
              </a:p>
              <a:p>
                <a:pPr lvl="1"/>
                <a:endParaRPr lang="en-US" altLang="ja-JP" dirty="0"/>
              </a:p>
            </p:txBody>
          </p:sp>
        </mc:Choice>
        <mc:Fallback>
          <p:sp>
            <p:nvSpPr>
              <p:cNvPr id="256" name="For each    , we can find     to rewrite the hard constraint version as…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40592" y="1009331"/>
                <a:ext cx="8500478" cy="3553928"/>
              </a:xfrm>
              <a:prstGeom prst="rect">
                <a:avLst/>
              </a:prstGeom>
              <a:blipFill rotWithShape="1">
                <a:blip r:embed="rId1"/>
                <a:stretch>
                  <a:fillRect l="-3" t="-9" r="7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7" name="Equation"/>
              <p:cNvSpPr txBox="1"/>
              <p:nvPr/>
            </p:nvSpPr>
            <p:spPr>
              <a:xfrm>
                <a:off x="2207234" y="1500627"/>
                <a:ext cx="2828405" cy="67754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ℓ(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f>
                        <m:fPr>
                          <m:ctrl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sSup>
                        <m:sSupPr>
                          <m:ctrl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p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sz="2500" dirty="0"/>
              </a:p>
            </p:txBody>
          </p:sp>
        </mc:Choice>
        <mc:Fallback>
          <p:sp>
            <p:nvSpPr>
              <p:cNvPr id="25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234" y="1500627"/>
                <a:ext cx="2828405" cy="677546"/>
              </a:xfrm>
              <a:prstGeom prst="rect">
                <a:avLst/>
              </a:prstGeom>
              <a:blipFill rotWithShape="1">
                <a:blip r:embed="rId2"/>
                <a:stretch>
                  <a:fillRect l="-22" t="-18" r="-22178" b="-8604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8" name="Equation"/>
          <p:cNvSpPr txBox="1"/>
          <p:nvPr/>
        </p:nvSpPr>
        <p:spPr>
          <a:xfrm>
            <a:off x="4026777" y="1105133"/>
            <a:ext cx="65" cy="36933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defRPr>
                <a:solidFill>
                  <a:srgbClr val="000000"/>
                </a:solidFill>
              </a:defRPr>
            </a:pPr>
            <a:endParaRPr sz="2400" dirty="0"/>
          </a:p>
        </p:txBody>
      </p:sp>
      <p:sp>
        <p:nvSpPr>
          <p:cNvPr id="259" name="Equation"/>
          <p:cNvSpPr txBox="1"/>
          <p:nvPr/>
        </p:nvSpPr>
        <p:spPr>
          <a:xfrm>
            <a:off x="1209227" y="3624260"/>
            <a:ext cx="65" cy="36933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defRPr>
                <a:solidFill>
                  <a:srgbClr val="000000"/>
                </a:solidFill>
              </a:defRPr>
            </a:pPr>
            <a:endParaRPr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0" name="Equation"/>
              <p:cNvSpPr txBox="1"/>
              <p:nvPr/>
            </p:nvSpPr>
            <p:spPr>
              <a:xfrm>
                <a:off x="1220477" y="3682433"/>
                <a:ext cx="1973513" cy="25298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→∞,</m:t>
                      </m:r>
                      <m:sSup>
                        <m:sSup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  <m:sup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sz="2400" dirty="0"/>
              </a:p>
            </p:txBody>
          </p:sp>
        </mc:Choice>
        <mc:Fallback>
          <p:sp>
            <p:nvSpPr>
              <p:cNvPr id="26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477" y="3682433"/>
                <a:ext cx="1973513" cy="252985"/>
              </a:xfrm>
              <a:prstGeom prst="rect">
                <a:avLst/>
              </a:prstGeom>
              <a:blipFill rotWithShape="1">
                <a:blip r:embed="rId3"/>
                <a:stretch>
                  <a:fillRect t="-27" r="-20017" b="-44802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1" name="Equation"/>
          <p:cNvSpPr txBox="1"/>
          <p:nvPr/>
        </p:nvSpPr>
        <p:spPr>
          <a:xfrm>
            <a:off x="1947238" y="1131295"/>
            <a:ext cx="65" cy="36933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defRPr>
                <a:solidFill>
                  <a:srgbClr val="000000"/>
                </a:solidFill>
              </a:defRPr>
            </a:pPr>
            <a:endParaRPr sz="2400" dirty="0"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Illustrate the Effect on Optimal Solu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图解说明最优解</a:t>
            </a:r>
            <a:endParaRPr dirty="0"/>
          </a:p>
        </p:txBody>
      </p:sp>
      <p:grpSp>
        <p:nvGrpSpPr>
          <p:cNvPr id="267" name="Group"/>
          <p:cNvGrpSpPr/>
          <p:nvPr/>
        </p:nvGrpSpPr>
        <p:grpSpPr>
          <a:xfrm>
            <a:off x="1785384" y="1316485"/>
            <a:ext cx="2845141" cy="2361453"/>
            <a:chOff x="0" y="0"/>
            <a:chExt cx="2845140" cy="2361451"/>
          </a:xfrm>
        </p:grpSpPr>
        <p:sp>
          <p:nvSpPr>
            <p:cNvPr id="265" name="Line"/>
            <p:cNvSpPr/>
            <p:nvPr/>
          </p:nvSpPr>
          <p:spPr>
            <a:xfrm flipV="1">
              <a:off x="-1" y="-1"/>
              <a:ext cx="2" cy="2361453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900"/>
                </a:spcBef>
                <a:defRPr sz="4000" b="1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266" name="Line"/>
            <p:cNvSpPr/>
            <p:nvPr/>
          </p:nvSpPr>
          <p:spPr>
            <a:xfrm>
              <a:off x="10222" y="2348751"/>
              <a:ext cx="2834919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spcBef>
                  <a:spcPts val="900"/>
                </a:spcBef>
                <a:defRPr sz="4000" b="1"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268" name="Circle"/>
          <p:cNvSpPr/>
          <p:nvPr/>
        </p:nvSpPr>
        <p:spPr>
          <a:xfrm>
            <a:off x="1439276" y="3326977"/>
            <a:ext cx="685478" cy="685479"/>
          </a:xfrm>
          <a:prstGeom prst="ellipse">
            <a:avLst/>
          </a:prstGeom>
          <a:ln w="25400">
            <a:solidFill>
              <a:schemeClr val="accent1"/>
            </a:solidFill>
          </a:ln>
        </p:spPr>
        <p:txBody>
          <a:bodyPr lIns="45719" rIns="45719" anchor="ctr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</a:p>
        </p:txBody>
      </p:sp>
      <p:sp>
        <p:nvSpPr>
          <p:cNvPr id="269" name="Oval"/>
          <p:cNvSpPr/>
          <p:nvPr/>
        </p:nvSpPr>
        <p:spPr>
          <a:xfrm>
            <a:off x="1061873" y="3000375"/>
            <a:ext cx="1452945" cy="1351966"/>
          </a:xfrm>
          <a:prstGeom prst="ellipse">
            <a:avLst/>
          </a:prstGeom>
          <a:ln w="25400">
            <a:solidFill>
              <a:schemeClr val="accent1"/>
            </a:solidFill>
          </a:ln>
        </p:spPr>
        <p:txBody>
          <a:bodyPr lIns="45719" rIns="45719" anchor="ctr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</a:p>
        </p:txBody>
      </p:sp>
      <p:sp>
        <p:nvSpPr>
          <p:cNvPr id="270" name="Oval"/>
          <p:cNvSpPr/>
          <p:nvPr/>
        </p:nvSpPr>
        <p:spPr>
          <a:xfrm>
            <a:off x="665114" y="2616316"/>
            <a:ext cx="2240120" cy="2096989"/>
          </a:xfrm>
          <a:prstGeom prst="ellipse">
            <a:avLst/>
          </a:prstGeom>
          <a:ln w="25400">
            <a:solidFill>
              <a:schemeClr val="accent1"/>
            </a:solidFill>
          </a:ln>
        </p:spPr>
        <p:txBody>
          <a:bodyPr lIns="45719" rIns="45719" anchor="ctr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</a:p>
        </p:txBody>
      </p:sp>
      <p:sp>
        <p:nvSpPr>
          <p:cNvPr id="271" name="Oval"/>
          <p:cNvSpPr/>
          <p:nvPr/>
        </p:nvSpPr>
        <p:spPr>
          <a:xfrm>
            <a:off x="2216904" y="1909028"/>
            <a:ext cx="3072784" cy="1176367"/>
          </a:xfrm>
          <a:prstGeom prst="ellipse">
            <a:avLst/>
          </a:prstGeom>
          <a:ln w="25400">
            <a:solidFill>
              <a:schemeClr val="accent4"/>
            </a:solidFill>
          </a:ln>
        </p:spPr>
        <p:txBody>
          <a:bodyPr lIns="45719" rIns="45719" anchor="ctr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</a:p>
        </p:txBody>
      </p:sp>
      <p:sp>
        <p:nvSpPr>
          <p:cNvPr id="272" name="Oval"/>
          <p:cNvSpPr/>
          <p:nvPr/>
        </p:nvSpPr>
        <p:spPr>
          <a:xfrm>
            <a:off x="2747416" y="2154472"/>
            <a:ext cx="2011759" cy="685479"/>
          </a:xfrm>
          <a:prstGeom prst="ellipse">
            <a:avLst/>
          </a:prstGeom>
          <a:ln w="25400">
            <a:solidFill>
              <a:schemeClr val="accent4"/>
            </a:solidFill>
          </a:ln>
        </p:spPr>
        <p:txBody>
          <a:bodyPr lIns="45719" rIns="45719" anchor="ctr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</a:p>
        </p:txBody>
      </p:sp>
      <p:sp>
        <p:nvSpPr>
          <p:cNvPr id="273" name="Oval"/>
          <p:cNvSpPr/>
          <p:nvPr/>
        </p:nvSpPr>
        <p:spPr>
          <a:xfrm>
            <a:off x="3410557" y="2371642"/>
            <a:ext cx="685479" cy="251139"/>
          </a:xfrm>
          <a:prstGeom prst="ellipse">
            <a:avLst/>
          </a:prstGeom>
          <a:ln w="25400">
            <a:solidFill>
              <a:schemeClr val="accent4"/>
            </a:solidFill>
          </a:ln>
        </p:spPr>
        <p:txBody>
          <a:bodyPr lIns="45719" rIns="45719" anchor="ctr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4" name="Equation"/>
              <p:cNvSpPr txBox="1"/>
              <p:nvPr/>
            </p:nvSpPr>
            <p:spPr>
              <a:xfrm>
                <a:off x="3824989" y="2163303"/>
                <a:ext cx="352350" cy="21061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limUpp>
                            <m:limUppPr>
                              <m:ctrlP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  <m:lim>
                              <m: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˜</m:t>
                              </m:r>
                            </m:lim>
                          </m:limUpp>
                        </m:e>
                        <m:sup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sz="2400"/>
              </a:p>
            </p:txBody>
          </p:sp>
        </mc:Choice>
        <mc:Fallback>
          <p:sp>
            <p:nvSpPr>
              <p:cNvPr id="27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4989" y="2163303"/>
                <a:ext cx="352350" cy="210617"/>
              </a:xfrm>
              <a:prstGeom prst="rect">
                <a:avLst/>
              </a:prstGeom>
              <a:blipFill rotWithShape="1">
                <a:blip r:embed="rId1"/>
                <a:stretch>
                  <a:fillRect l="-109" t="-234" r="-64971" b="-11051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5" name="Equation"/>
              <p:cNvSpPr txBox="1"/>
              <p:nvPr/>
            </p:nvSpPr>
            <p:spPr>
              <a:xfrm>
                <a:off x="2360970" y="2391903"/>
                <a:ext cx="345340" cy="21061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  <m:sup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sz="2400"/>
              </a:p>
            </p:txBody>
          </p:sp>
        </mc:Choice>
        <mc:Fallback>
          <p:sp>
            <p:nvSpPr>
              <p:cNvPr id="27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0970" y="2391903"/>
                <a:ext cx="345340" cy="210617"/>
              </a:xfrm>
              <a:prstGeom prst="rect">
                <a:avLst/>
              </a:prstGeom>
              <a:blipFill rotWithShape="1">
                <a:blip r:embed="rId2"/>
                <a:stretch>
                  <a:fillRect l="-12" t="-234" r="-68420" b="-73729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" name="Oval"/>
          <p:cNvSpPr/>
          <p:nvPr/>
        </p:nvSpPr>
        <p:spPr>
          <a:xfrm>
            <a:off x="3705834" y="2444923"/>
            <a:ext cx="94924" cy="104577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accent4"/>
            </a:solidFill>
          </a:ln>
        </p:spPr>
        <p:txBody>
          <a:bodyPr lIns="45719" rIns="45719" anchor="ctr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</a:p>
        </p:txBody>
      </p:sp>
      <p:sp>
        <p:nvSpPr>
          <p:cNvPr id="277" name="Oval"/>
          <p:cNvSpPr/>
          <p:nvPr/>
        </p:nvSpPr>
        <p:spPr>
          <a:xfrm>
            <a:off x="2322393" y="2708883"/>
            <a:ext cx="117980" cy="129977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900"/>
              </a:spcBef>
              <a:defRPr sz="4000" b="1">
                <a:solidFill>
                  <a:srgbClr val="000000"/>
                </a:solidFill>
              </a:defRPr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8" name="Equation"/>
              <p:cNvSpPr txBox="1"/>
              <p:nvPr/>
            </p:nvSpPr>
            <p:spPr>
              <a:xfrm>
                <a:off x="2234489" y="939730"/>
                <a:ext cx="4061435" cy="67754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  <m:sup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arg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ℓ(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f>
                        <m:fPr>
                          <m:ctrl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sSup>
                        <m:sSupPr>
                          <m:ctrl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p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sz="2500"/>
              </a:p>
            </p:txBody>
          </p:sp>
        </mc:Choice>
        <mc:Fallback>
          <p:sp>
            <p:nvSpPr>
              <p:cNvPr id="278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4489" y="939730"/>
                <a:ext cx="4061435" cy="677546"/>
              </a:xfrm>
              <a:prstGeom prst="rect">
                <a:avLst/>
              </a:prstGeom>
              <a:blipFill rotWithShape="1">
                <a:blip r:embed="rId3"/>
                <a:stretch>
                  <a:fillRect l="-14" t="-83" r="-21735" b="-8539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9" name="Equation"/>
              <p:cNvSpPr txBox="1"/>
              <p:nvPr/>
            </p:nvSpPr>
            <p:spPr>
              <a:xfrm>
                <a:off x="5469853" y="2273055"/>
                <a:ext cx="2788674" cy="28765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limUpp>
                            <m:limUppPr>
                              <m:ctrlP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  <m:lim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˜</m:t>
                              </m:r>
                            </m:lim>
                          </m:limUpp>
                        </m:e>
                        <m:sup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arg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ℓ(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500"/>
              </a:p>
            </p:txBody>
          </p:sp>
        </mc:Choice>
        <mc:Fallback>
          <p:sp>
            <p:nvSpPr>
              <p:cNvPr id="279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9853" y="2273055"/>
                <a:ext cx="2788674" cy="287656"/>
              </a:xfrm>
              <a:prstGeom prst="rect">
                <a:avLst/>
              </a:prstGeom>
              <a:blipFill rotWithShape="1">
                <a:blip r:embed="rId4"/>
                <a:stretch>
                  <a:fillRect l="-21" t="-136" r="-20868" b="-8441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Update Ru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更新规则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2" name="Compute the gradient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 marL="235585" indent="-235585" defTabSz="448310">
                  <a:defRPr sz="2350"/>
                </a:pPr>
                <a:r>
                  <a:rPr lang="ja-JP" altLang="en-US"/>
                  <a:t>计算梯度</a:t>
                </a:r>
                <a:endParaRPr lang="ja-JP" altLang="en-US"/>
              </a:p>
              <a:p>
                <a:pPr marL="235585" indent="-235585" defTabSz="448310">
                  <a:defRPr sz="2350"/>
                </a:pPr>
                <a:r>
                  <a:rPr lang="ja-JP" altLang="en-US"/>
                  <a:t>在时</a:t>
                </a:r>
                <a:r>
                  <a:rPr lang="zh-CN" altLang="en-US" dirty="0"/>
                  <a:t>刻 </a:t>
                </a:r>
                <a:r>
                  <a:rPr lang="en-US" dirty="0"/>
                  <a:t>t</a:t>
                </a:r>
                <a:r>
                  <a:rPr lang="zh-CN" altLang="en-US" dirty="0"/>
                  <a:t> </a:t>
                </a:r>
                <a:r>
                  <a:rPr lang="ja-JP" altLang="en-US"/>
                  <a:t>更新权重</a:t>
                </a:r>
                <a:endParaRPr lang="ja-JP" altLang="en-US"/>
              </a:p>
              <a:p>
                <a:pPr marL="235585" indent="-235585" defTabSz="448310">
                  <a:defRPr sz="2350"/>
                </a:pPr>
                <a:endParaRPr lang="ja-JP" altLang="en-US"/>
              </a:p>
              <a:p>
                <a:pPr marL="235585" indent="-235585" defTabSz="448310">
                  <a:defRPr sz="2350"/>
                </a:pPr>
                <a:endParaRPr lang="ja-JP" altLang="en-US"/>
              </a:p>
              <a:p>
                <a:pPr marL="235585" indent="-235585" defTabSz="448310">
                  <a:defRPr sz="2350"/>
                </a:pPr>
                <a:r>
                  <a:rPr lang="ja-JP" altLang="en-US"/>
                  <a:t>通常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𝜂𝜆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ja-JP" altLang="en-US"/>
                  <a:t>，在深度学习中也称为权重衰减</a:t>
                </a:r>
                <a:endParaRPr dirty="0"/>
              </a:p>
            </p:txBody>
          </p:sp>
        </mc:Choice>
        <mc:Fallback>
          <p:sp>
            <p:nvSpPr>
              <p:cNvPr id="282" name="Compute the gradient…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 rotWithShape="1">
                <a:blip r:embed="rId1"/>
                <a:stretch>
                  <a:fillRect l="-3" t="-9" r="1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3" name="Equation"/>
              <p:cNvSpPr txBox="1"/>
              <p:nvPr/>
            </p:nvSpPr>
            <p:spPr>
              <a:xfrm>
                <a:off x="1543425" y="1884261"/>
                <a:ext cx="4794291" cy="68760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</m:den>
                      </m:f>
                      <m:d>
                        <m:d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ℓ(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f>
                            <m:fPr>
                              <m:ctrlP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num>
                            <m:den>
                              <m: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∥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  <m:sSup>
                            <m:sSupPr>
                              <m:ctrlP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e>
                            <m:sup>
                              <m:r>
                                <a:rPr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ℓ(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</m:den>
                      </m:f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</m:oMath>
                  </m:oMathPara>
                </a14:m>
                <a:endParaRPr sz="2200" dirty="0"/>
              </a:p>
            </p:txBody>
          </p:sp>
        </mc:Choice>
        <mc:Fallback>
          <p:sp>
            <p:nvSpPr>
              <p:cNvPr id="28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425" y="1884261"/>
                <a:ext cx="4794291" cy="687604"/>
              </a:xfrm>
              <a:prstGeom prst="rect">
                <a:avLst/>
              </a:prstGeom>
              <a:blipFill rotWithShape="1">
                <a:blip r:embed="rId2"/>
                <a:stretch>
                  <a:fillRect l="-8" t="-31" r="-19581" b="1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4" name="Equation"/>
              <p:cNvSpPr txBox="1"/>
              <p:nvPr/>
            </p:nvSpPr>
            <p:spPr>
              <a:xfrm>
                <a:off x="1543425" y="3505644"/>
                <a:ext cx="3907688" cy="73488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𝜂𝜆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ℓ(</m:t>
                          </m:r>
                          <m:sSub>
                            <m:sSubPr>
                              <m:ctrlP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  <m:sub>
                              <m: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  <m:sub>
                              <m: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sz="2400" dirty="0"/>
              </a:p>
            </p:txBody>
          </p:sp>
        </mc:Choice>
        <mc:Fallback>
          <p:sp>
            <p:nvSpPr>
              <p:cNvPr id="28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425" y="3505644"/>
                <a:ext cx="3907688" cy="734886"/>
              </a:xfrm>
              <a:prstGeom prst="rect">
                <a:avLst/>
              </a:prstGeom>
              <a:blipFill rotWithShape="1">
                <a:blip r:embed="rId3"/>
                <a:stretch>
                  <a:fillRect l="-10" t="-60" r="-33517" b="-4666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5" name="Equation"/>
          <p:cNvSpPr txBox="1"/>
          <p:nvPr/>
        </p:nvSpPr>
        <p:spPr>
          <a:xfrm>
            <a:off x="2061621" y="3811518"/>
            <a:ext cx="65" cy="33855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defRPr>
                <a:solidFill>
                  <a:srgbClr val="000000"/>
                </a:solidFill>
              </a:defRPr>
            </a:pPr>
            <a:endParaRPr sz="2200" dirty="0"/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Dropou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ja-JP" altLang="en-US"/>
              <a:t>丢弃法</a:t>
            </a:r>
            <a:br>
              <a:rPr lang="en-US" altLang="ja-JP" dirty="0"/>
            </a:br>
            <a:r>
              <a:rPr lang="en-US" altLang="zh-CN" dirty="0"/>
              <a:t>(dropout) </a:t>
            </a:r>
            <a:r>
              <a:rPr lang="ja-JP" altLang="en-US"/>
              <a:t> </a:t>
            </a:r>
            <a:endParaRPr lang="ja-JP" altLang="en-US"/>
          </a:p>
        </p:txBody>
      </p:sp>
      <p:pic>
        <p:nvPicPr>
          <p:cNvPr id="288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3711" y="620109"/>
            <a:ext cx="4923345" cy="362829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Motiv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动机</a:t>
            </a:r>
            <a:endParaRPr dirty="0"/>
          </a:p>
        </p:txBody>
      </p:sp>
      <p:sp>
        <p:nvSpPr>
          <p:cNvPr id="291" name="A good model should be robust under modest changes in the input…"/>
          <p:cNvSpPr txBox="1">
            <a:spLocks noGrp="1"/>
          </p:cNvSpPr>
          <p:nvPr>
            <p:ph type="body" sz="half" idx="1"/>
          </p:nvPr>
        </p:nvSpPr>
        <p:spPr>
          <a:xfrm>
            <a:off x="340592" y="1009331"/>
            <a:ext cx="4474905" cy="355392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ja-JP" altLang="en-US"/>
              <a:t>在输入的适度变化下，一个好的模型应该是稳定的</a:t>
            </a:r>
            <a:endParaRPr lang="ja-JP" altLang="en-US"/>
          </a:p>
          <a:p>
            <a:pPr lvl="1"/>
            <a:r>
              <a:rPr lang="ja-JP" altLang="en-US"/>
              <a:t>用输入噪声训练相当于</a:t>
            </a:r>
            <a:r>
              <a:rPr lang="zh-CN" altLang="en-US" dirty="0"/>
              <a:t> </a:t>
            </a:r>
            <a:r>
              <a:rPr lang="en-US" dirty="0"/>
              <a:t>Tikhonov</a:t>
            </a:r>
            <a:r>
              <a:rPr lang="zh-CN" altLang="en-US" dirty="0"/>
              <a:t> </a:t>
            </a:r>
            <a:r>
              <a:rPr lang="ja-JP" altLang="en-US"/>
              <a:t>正则化</a:t>
            </a:r>
            <a:endParaRPr lang="ja-JP" altLang="en-US"/>
          </a:p>
          <a:p>
            <a:pPr lvl="1"/>
            <a:r>
              <a:rPr lang="ja-JP" altLang="en-US"/>
              <a:t>丢弃法：将噪音注入内部隐藏层</a:t>
            </a:r>
            <a:endParaRPr dirty="0"/>
          </a:p>
        </p:txBody>
      </p:sp>
      <p:pic>
        <p:nvPicPr>
          <p:cNvPr id="292" name="stormtrooper_noised_by_junguler-d9ft0u0.gif" descr="stormtrooper_noised_by_junguler-d9ft0u0.gif"/>
          <p:cNvPicPr/>
          <p:nvPr/>
        </p:nvPicPr>
        <p:blipFill>
          <a:blip r:embed="rId1"/>
          <a:stretch>
            <a:fillRect/>
          </a:stretch>
        </p:blipFill>
        <p:spPr>
          <a:xfrm>
            <a:off x="5344521" y="1388603"/>
            <a:ext cx="2795384" cy="2795384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-189357" y="-190500"/>
            <a:ext cx="9141714" cy="51435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-189357" y="-190500"/>
            <a:ext cx="9141714" cy="51435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Update Ru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添加没有偏差的噪音</a:t>
            </a:r>
            <a:endParaRPr dirty="0"/>
          </a:p>
        </p:txBody>
      </p:sp>
      <p:sp>
        <p:nvSpPr>
          <p:cNvPr id="282" name="Compute the gradient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235585" indent="-235585" defTabSz="448310">
              <a:defRPr sz="2350"/>
            </a:pPr>
            <a:r>
              <a:rPr lang="ja-JP" altLang="en-US"/>
              <a:t>将噪声添加到</a:t>
            </a:r>
            <a:r>
              <a:rPr lang="zh-CN" altLang="en-US" dirty="0"/>
              <a:t> </a:t>
            </a:r>
            <a:r>
              <a:rPr lang="en-US" dirty="0"/>
              <a:t>x</a:t>
            </a:r>
            <a:r>
              <a:rPr lang="zh-CN" altLang="en-US" dirty="0"/>
              <a:t> </a:t>
            </a:r>
            <a:r>
              <a:rPr lang="ja-JP" altLang="en-US"/>
              <a:t>中以获得</a:t>
            </a:r>
            <a:r>
              <a:rPr lang="zh-CN" altLang="en-US" dirty="0"/>
              <a:t> </a:t>
            </a:r>
            <a:r>
              <a:rPr lang="en-US" dirty="0"/>
              <a:t>x‘</a:t>
            </a:r>
            <a:r>
              <a:rPr lang="zh-CN" altLang="en-US" dirty="0"/>
              <a:t>：</a:t>
            </a:r>
            <a:endParaRPr lang="en-US" dirty="0"/>
          </a:p>
          <a:p>
            <a:pPr marL="235585" indent="-235585" defTabSz="448310">
              <a:defRPr sz="2350"/>
            </a:pPr>
            <a:endParaRPr lang="en-US" dirty="0"/>
          </a:p>
          <a:p>
            <a:pPr marL="235585" indent="-235585" defTabSz="448310">
              <a:defRPr sz="2350"/>
            </a:pPr>
            <a:endParaRPr lang="en-US" dirty="0"/>
          </a:p>
          <a:p>
            <a:pPr marL="235585" indent="-235585" defTabSz="448310">
              <a:defRPr sz="2350"/>
            </a:pPr>
            <a:r>
              <a:rPr lang="ja-JP" altLang="en-US"/>
              <a:t>丢弃法将噪声添加到每个元素</a:t>
            </a:r>
            <a:r>
              <a:rPr lang="zh-CN" altLang="en-US" dirty="0"/>
              <a:t>：</a:t>
            </a:r>
            <a:endParaRPr dirty="0"/>
          </a:p>
        </p:txBody>
      </p:sp>
      <p:sp>
        <p:nvSpPr>
          <p:cNvPr id="285" name="Equation"/>
          <p:cNvSpPr txBox="1"/>
          <p:nvPr/>
        </p:nvSpPr>
        <p:spPr>
          <a:xfrm>
            <a:off x="2061621" y="3811518"/>
            <a:ext cx="65" cy="33855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defRPr>
                <a:solidFill>
                  <a:srgbClr val="000000"/>
                </a:solidFill>
              </a:defRPr>
            </a:pPr>
            <a:endParaRPr sz="2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8297" y="1712522"/>
            <a:ext cx="1244600" cy="279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297" y="2986270"/>
            <a:ext cx="3898900" cy="9398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Motiv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丢弃法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ja-JP" altLang="en-US"/>
              <a:t>训练</a:t>
            </a:r>
            <a:endParaRPr dirty="0"/>
          </a:p>
        </p:txBody>
      </p:sp>
      <p:sp>
        <p:nvSpPr>
          <p:cNvPr id="291" name="A good model should be robust under modest changes in the input…"/>
          <p:cNvSpPr txBox="1">
            <a:spLocks noGrp="1"/>
          </p:cNvSpPr>
          <p:nvPr>
            <p:ph type="body" sz="half" idx="1"/>
          </p:nvPr>
        </p:nvSpPr>
        <p:spPr>
          <a:xfrm>
            <a:off x="340592" y="1009331"/>
            <a:ext cx="8323723" cy="355392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ja-JP" altLang="en-US"/>
              <a:t>通常在全连接层的输出上使用丢弃法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805" y="1926757"/>
            <a:ext cx="2159000" cy="15748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1420" y="1852014"/>
            <a:ext cx="5194300" cy="2159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Dropout in Inferenc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丢弃法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ja-JP" altLang="en-US"/>
              <a:t>推断</a:t>
            </a:r>
            <a:endParaRPr dirty="0"/>
          </a:p>
        </p:txBody>
      </p:sp>
      <p:sp>
        <p:nvSpPr>
          <p:cNvPr id="305" name="Regularization is only used in training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ja-JP" altLang="en-US"/>
              <a:t>正规化仅用于模型训练</a:t>
            </a:r>
            <a:endParaRPr lang="ja-JP" altLang="en-US"/>
          </a:p>
          <a:p>
            <a:r>
              <a:rPr lang="ja-JP" altLang="en-US"/>
              <a:t>丢弃法在推断中用于</a:t>
            </a:r>
            <a:r>
              <a:rPr lang="zh-CN" altLang="en-US" dirty="0"/>
              <a:t>：</a:t>
            </a:r>
            <a:endParaRPr lang="ja-JP" altLang="en-US"/>
          </a:p>
          <a:p>
            <a:endParaRPr lang="ja-JP" altLang="en-US"/>
          </a:p>
          <a:p>
            <a:endParaRPr lang="ja-JP" altLang="en-US"/>
          </a:p>
          <a:p>
            <a:pPr lvl="1"/>
            <a:r>
              <a:rPr lang="ja-JP" altLang="en-US"/>
              <a:t>保证确定性结果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6" name="Equation"/>
              <p:cNvSpPr txBox="1"/>
              <p:nvPr/>
            </p:nvSpPr>
            <p:spPr>
              <a:xfrm>
                <a:off x="1225897" y="2136487"/>
                <a:ext cx="1998521" cy="27875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defRPr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p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dropout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𝐡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400" dirty="0"/>
              </a:p>
            </p:txBody>
          </p:sp>
        </mc:Choice>
        <mc:Fallback>
          <p:sp>
            <p:nvSpPr>
              <p:cNvPr id="30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897" y="2136487"/>
                <a:ext cx="1998521" cy="278756"/>
              </a:xfrm>
              <a:prstGeom prst="rect">
                <a:avLst/>
              </a:prstGeom>
              <a:blipFill rotWithShape="1">
                <a:blip r:embed="rId1"/>
                <a:stretch>
                  <a:fillRect l="-17" t="-124" r="-28824" b="-3108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Outl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/>
              <a:t>总结</a:t>
            </a:r>
            <a:endParaRPr dirty="0"/>
          </a:p>
        </p:txBody>
      </p:sp>
      <p:sp>
        <p:nvSpPr>
          <p:cNvPr id="192" name="Single Layer Perceptr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defRPr b="1"/>
            </a:pPr>
            <a:r>
              <a:rPr lang="ja-JP" altLang="en-US"/>
              <a:t>模型选择</a:t>
            </a:r>
            <a:endParaRPr lang="en-US" altLang="ja-JP" dirty="0"/>
          </a:p>
          <a:p>
            <a:pPr lvl="1">
              <a:defRPr b="1"/>
            </a:pPr>
            <a:r>
              <a:rPr lang="ja-JP" altLang="en-US" b="1"/>
              <a:t>训练误差和泛化误差</a:t>
            </a:r>
            <a:endParaRPr lang="en-US" altLang="ja-JP" b="1" dirty="0"/>
          </a:p>
          <a:p>
            <a:pPr lvl="1">
              <a:defRPr b="1"/>
            </a:pPr>
            <a:r>
              <a:rPr lang="en-US" altLang="zh-CN" b="1" dirty="0"/>
              <a:t>K</a:t>
            </a:r>
            <a:r>
              <a:rPr lang="zh-CN" altLang="en-US" b="1" dirty="0"/>
              <a:t> </a:t>
            </a:r>
            <a:r>
              <a:rPr lang="ja-JP" altLang="en-US" b="1"/>
              <a:t>折交叉验证</a:t>
            </a:r>
            <a:endParaRPr lang="en-US" altLang="ja-JP" b="1" dirty="0"/>
          </a:p>
          <a:p>
            <a:pPr>
              <a:defRPr b="1"/>
            </a:pPr>
            <a:r>
              <a:rPr lang="ja-JP" altLang="en-US"/>
              <a:t>欠拟合与过拟合</a:t>
            </a:r>
            <a:endParaRPr lang="en-US" altLang="ja-JP" dirty="0"/>
          </a:p>
          <a:p>
            <a:pPr lvl="1">
              <a:defRPr b="1"/>
            </a:pPr>
            <a:r>
              <a:rPr lang="ja-JP" altLang="en-US" b="1"/>
              <a:t>模型复杂度</a:t>
            </a:r>
            <a:endParaRPr lang="en-US" altLang="ja-JP" b="1" dirty="0"/>
          </a:p>
          <a:p>
            <a:pPr lvl="1">
              <a:defRPr b="1"/>
            </a:pPr>
            <a:r>
              <a:rPr lang="en-US" altLang="ja-JP" b="1" dirty="0"/>
              <a:t>VC</a:t>
            </a:r>
            <a:r>
              <a:rPr lang="zh-CN" altLang="en-US" b="1" dirty="0"/>
              <a:t> </a:t>
            </a:r>
            <a:r>
              <a:rPr lang="ja-JP" altLang="en-US" b="1"/>
              <a:t>维度</a:t>
            </a:r>
            <a:endParaRPr lang="en-US" altLang="ja-JP" b="1" dirty="0"/>
          </a:p>
          <a:p>
            <a:pPr>
              <a:defRPr b="1"/>
            </a:pPr>
            <a:r>
              <a:rPr lang="ja-JP" altLang="en-US"/>
              <a:t>权重衰减</a:t>
            </a:r>
            <a:endParaRPr lang="en-US" altLang="ja-JP" dirty="0"/>
          </a:p>
          <a:p>
            <a:pPr>
              <a:defRPr b="1"/>
            </a:pPr>
            <a:r>
              <a:rPr lang="ja-JP" altLang="en-US"/>
              <a:t>丢弃法</a:t>
            </a:r>
            <a:endParaRPr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DeckTemplate-AWS">
  <a:themeElements>
    <a:clrScheme name="DeckTemplate-AWS">
      <a:dk1>
        <a:srgbClr val="474746"/>
      </a:dk1>
      <a:lt1>
        <a:srgbClr val="FFFFFF"/>
      </a:lt1>
      <a:dk2>
        <a:srgbClr val="A7A7A7"/>
      </a:dk2>
      <a:lt2>
        <a:srgbClr val="535353"/>
      </a:lt2>
      <a:accent1>
        <a:srgbClr val="FCB64C"/>
      </a:accent1>
      <a:accent2>
        <a:srgbClr val="F7A028"/>
      </a:accent2>
      <a:accent3>
        <a:srgbClr val="0C67AE"/>
      </a:accent3>
      <a:accent4>
        <a:srgbClr val="7BC233"/>
      </a:accent4>
      <a:accent5>
        <a:srgbClr val="FDD645"/>
      </a:accent5>
      <a:accent6>
        <a:srgbClr val="999A98"/>
      </a:accent6>
      <a:hlink>
        <a:srgbClr val="0000FF"/>
      </a:hlink>
      <a:folHlink>
        <a:srgbClr val="FF00FF"/>
      </a:folHlink>
    </a:clrScheme>
    <a:fontScheme name="DeckTemplate-AWS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DeckTemplate-AW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900"/>
          </a:spcBef>
          <a:spcAft>
            <a:spcPts val="0"/>
          </a:spcAft>
          <a:buClrTx/>
          <a:buSzTx/>
          <a:buFontTx/>
          <a:buNone/>
          <a:defRPr kumimoji="0" sz="4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474746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ckTemplate-AWS">
  <a:themeElements>
    <a:clrScheme name="DeckTemplate-AW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CB64C"/>
      </a:accent1>
      <a:accent2>
        <a:srgbClr val="F7A028"/>
      </a:accent2>
      <a:accent3>
        <a:srgbClr val="0C67AE"/>
      </a:accent3>
      <a:accent4>
        <a:srgbClr val="7BC233"/>
      </a:accent4>
      <a:accent5>
        <a:srgbClr val="FDD645"/>
      </a:accent5>
      <a:accent6>
        <a:srgbClr val="999A98"/>
      </a:accent6>
      <a:hlink>
        <a:srgbClr val="0000FF"/>
      </a:hlink>
      <a:folHlink>
        <a:srgbClr val="FF00FF"/>
      </a:folHlink>
    </a:clrScheme>
    <a:fontScheme name="DeckTemplate-AWS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DeckTemplate-AW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900"/>
          </a:spcBef>
          <a:spcAft>
            <a:spcPts val="0"/>
          </a:spcAft>
          <a:buClrTx/>
          <a:buSzTx/>
          <a:buFontTx/>
          <a:buNone/>
          <a:defRPr kumimoji="0" sz="4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474746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1756</Words>
  <Application>WPS 演示</Application>
  <PresentationFormat>全屏显示(16:9)</PresentationFormat>
  <Paragraphs>233</Paragraphs>
  <Slides>28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4" baseType="lpstr">
      <vt:lpstr>Arial</vt:lpstr>
      <vt:lpstr>SimSun</vt:lpstr>
      <vt:lpstr>Wingdings</vt:lpstr>
      <vt:lpstr>Arial</vt:lpstr>
      <vt:lpstr>DejaVu Sans</vt:lpstr>
      <vt:lpstr>SimSun</vt:lpstr>
      <vt:lpstr>Noto Serif CJK SC</vt:lpstr>
      <vt:lpstr>Microsoft YaHei</vt:lpstr>
      <vt:lpstr>Droid Sans Fallback</vt:lpstr>
      <vt:lpstr>Arial Unicode MS</vt:lpstr>
      <vt:lpstr>Cambria Math</vt:lpstr>
      <vt:lpstr>DejaVu Math TeX Gyre</vt:lpstr>
      <vt:lpstr>Helvetica</vt:lpstr>
      <vt:lpstr>Quicksand Light</vt:lpstr>
      <vt:lpstr>Noto Color Emoji</vt:lpstr>
      <vt:lpstr>DeckTemplate-AWS</vt:lpstr>
      <vt:lpstr>PowerPoint 演示文稿</vt:lpstr>
      <vt:lpstr>概要</vt:lpstr>
      <vt:lpstr>模型选择</vt:lpstr>
      <vt:lpstr>训练误差和泛化误差</vt:lpstr>
      <vt:lpstr>验证数据集和测试数据集</vt:lpstr>
      <vt:lpstr>K 折交叉验证 </vt:lpstr>
      <vt:lpstr>欠拟合 过拟合</vt:lpstr>
      <vt:lpstr>欠拟合 和 过拟合</vt:lpstr>
      <vt:lpstr>模型复杂度</vt:lpstr>
      <vt:lpstr>模型复杂度的影响</vt:lpstr>
      <vt:lpstr>估计模型复杂度</vt:lpstr>
      <vt:lpstr>VC维度</vt:lpstr>
      <vt:lpstr>线性分类器的VC维度</vt:lpstr>
      <vt:lpstr>VC维度的效用</vt:lpstr>
      <vt:lpstr>数据复杂度</vt:lpstr>
      <vt:lpstr>权重衰减</vt:lpstr>
      <vt:lpstr>平方正则化作为“硬”约束</vt:lpstr>
      <vt:lpstr>平方正则化作为“软”约束</vt:lpstr>
      <vt:lpstr>图解说明最优解</vt:lpstr>
      <vt:lpstr>更新规则</vt:lpstr>
      <vt:lpstr>丢弃法 (dropout)  </vt:lpstr>
      <vt:lpstr>动机</vt:lpstr>
      <vt:lpstr>PowerPoint 演示文稿</vt:lpstr>
      <vt:lpstr>PowerPoint 演示文稿</vt:lpstr>
      <vt:lpstr>添加没有偏差的噪音</vt:lpstr>
      <vt:lpstr>丢弃法 – 训练</vt:lpstr>
      <vt:lpstr>丢弃法 – 推断</vt:lpstr>
      <vt:lpstr>总结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hai</cp:lastModifiedBy>
  <cp:revision>53</cp:revision>
  <dcterms:created xsi:type="dcterms:W3CDTF">2026-07-15T02:20:24Z</dcterms:created>
  <dcterms:modified xsi:type="dcterms:W3CDTF">2026-07-15T02:20:24Z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1EF2AE9E07850D4726EE566A49104DC0_42</vt:lpwstr>
  </property>
  <property fmtid="{D5CDD505-2E9C-101B-9397-08002B2CF9AE}" pid="3" name="KSOProductBuildVer">
    <vt:lpwstr>2052-12.1.2.26885</vt:lpwstr>
  </property>
</Properties>
</file>